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[1枚目/タイトル]</a:t>
            </a:r>
          </a:p>
          <a:p>
            <a:r>
              <a:t>こんにちは。今日は私が作った2Dアクションゲーム『Super JS Bros』について発表します。このゲームはHTMLファイル1つで動くブラウザゲームです。2Dゲームの仕組みから、実際に使ったコード、そして制作に使ったAIツールまで、初心者の人にもわかるように説明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[2枚目/2Dゲームとは]</a:t>
            </a:r>
          </a:p>
          <a:p>
            <a:r>
              <a:t>まず『2Dゲーム』について説明します。2Dゲームとは、上下と左右の2方向だけで表現される画面のゲームのことです。奥行きがない分、動きの仕組みがシンプルで、プログラミング初心者でも作りやすいのが特徴です。今回作った『Super JS Bros』もマリオのような横スクロールアクションゲームで、全5ステージあり、敵を倒したりアイテムを取ったりしながらゴールを目指します。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[3枚目/使用言語の解説]</a:t>
            </a:r>
          </a:p>
          <a:p>
            <a:r>
              <a:t>このゲームは3つの技術で作られています。HTMLは画面の土台、CSSは見た目のデザイン、そしてJavaScriptがキャラクターの動きや当たり判定などの『頭脳』の部分を担当しています。さらにJavaScriptからCanvasという『デジタルの画用紙』に絵を描くことで、動く映像を表現しています。このゲームは、この3つがすべてindex.htmlという1つのファイルにまとまっているの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[4枚目/ゲームのルール]</a:t>
            </a:r>
          </a:p>
          <a:p>
            <a:r>
              <a:t>遊び方はシンプルです。矢印キーで移動・ジャンプし、ファイアパワーを取るとFキーで攻撃できます。敵は踏んで倒すか、ファイアボールで倒します。トゲやボスに当たるとミスになり、残機が0になるとゲームオーバーです。全部で5つのステージがあり、3ステージ目からはボスキャラクターが登場し、倒さないとゴールに進めない仕組み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[5枚目/コード解説：ゲームループ]</a:t>
            </a:r>
          </a:p>
          <a:p>
            <a:r>
              <a:t>ここから実際のコードを見ながら、どういう働きをしているのか一つずつ解説していきます。まずゲーム全体を動かしている『ゲームループ』です。gameLoop関数の中でupdate（状態の計算）とdraw（画面の描画）を呼び出し、最後にrequestAnimationFrameでもう一度自分自身を呼び出しています。これが1秒間に60回ほど繰り返されることで、キャラクターがなめらかに動いて見えるの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[6枚目/コード解説：プレイヤーの物理]</a:t>
            </a:r>
          </a:p>
          <a:p>
            <a:r>
              <a:t>次にプレイヤーの動きを支えているmoveWithCollision関数です。vxとvyという横と縦の速さを表す数値を座標に足すことでキャラクターを動かしています。vy += 0.5という部分が重力を再現していて、ジャンプ直後はvyがマイナスで上に進みますが、毎フレーム0.5ずつ足されることで、だんだん下向きの動きに変わり、放物線を描いて落ちてくる自然な動きになります。また地面のブロックにぶつかったときはめり込まないように座標を調整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[7枚目/コード解説：敵キャラクター]</a:t>
            </a:r>
          </a:p>
          <a:p>
            <a:r>
              <a:t>敵キャラクターはmakeEnemies関数でまとめて作られています。それぞれの敵はtype（種類）、x・y（座標）、vx（速さ）、alive（生きているか）といった情報を持つ『データのかたまり』として配列に追加されます。歩く敵walker、甲羅になるkoopa、空を飛ぶflyer、物を投げるthrowerなどいくつも種類があり、lvl（ステージ番号）が大きくなるほどvxの値が大きくなって敵の動きが速くなる仕組みです。またgroundSpawnYという関数で地形の高さを調べてから配置することで、階段の中に埋まってしまわないよう工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[8枚目/コード解説：アイテムとパワーアップ]</a:t>
            </a:r>
          </a:p>
          <a:p>
            <a:r>
              <a:t>アイテムを取ったときに動くのがcollectPowerup関数です。item.collectedをtrueにして同じアイテムを二度取れないようにし、スコアを250点加算します。そしてitem.typeという文字列を見て、speedならspeedTimerに600、giantならgiantTimerに480というように数値をセットします。このタイマーは毎フレーム1ずつ減っていき、0になるとパワーアップが切れる仕組みです。これによって『一定時間だけ強くなる』という動きをシンプルなコードで実現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[9枚目/コード解説：ステージ生成]</a:t>
            </a:r>
          </a:p>
          <a:p>
            <a:r>
              <a:t>ステージの地形はbuildLevel関数で作られています。ステージはタイルというマス目の集まりで、type1が地面、2がブロック、3がコイン、4がゴールというように数字で意味を持たせています。for文を使って横方向に地面のタイルを並べていき、lvlというステージ番号を計算式に使うことで、ステージが進むほどマップが横に広くなったり、穴（落とし穴）が増えたりするようになっています。つまり5つのステージを1つずつ手作業で作るのではなく、計算で自動生成しているの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[10枚目/コード解説：攻撃とゴール判定]</a:t>
            </a:r>
          </a:p>
          <a:p>
            <a:r>
              <a:t>Fキーを押すとthrowFireball関数が呼ばれ、fireballsという配列に新しい火の玉のデータが追加されます。もしfireTimerが0以下、つまりファイアパワーを持っていなければreturnで何もしない、という条件分岐になっています。もう一つ、bossBlockingGoal関数は、enemies配列の中からfindでボスを探し出し、まだ生きていて倒されていなければtrueを返します。これによって、3ステージ目以降はボスを倒さないとゴールに進めない仕組みが実現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[11枚目/使ったAIツールの解説]</a:t>
            </a:r>
          </a:p>
          <a:p>
            <a:r>
              <a:t>このゲームを作る際に使ったAIツールはGitHub Copilotです。コードエディタと連携して動くAIで、コードを書いている途中で次に必要な処理を提案してくれたり、『敵が階段に埋まらないように直したい』のように日本語で指示すると、関数の修正案を考えて提示してくれます。プログラミング初心者でも、自分だけでは思いつかない実装方法を学びながら大きなプログラムを組み立てられるのが魅力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[12枚目/おすすめの他のAIツール]</a:t>
            </a:r>
          </a:p>
          <a:p>
            <a:r>
              <a:t>GitHub Copilot以外にも、便利なAIツールがたくさんあります。ChatGPTは文章で質問するとアイデア出しや仕組みの説明を手伝ってくれますし、Claudeは長い文章やコードの読解・要約が得意です。Geminiは検索や調べ学習と組み合わせやすいAIです。それぞれ得意分野が違うので、目的に合わせて使い分けること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[13枚目/まとめ]</a:t>
            </a:r>
          </a:p>
          <a:p>
            <a:r>
              <a:t>まとめです。2Dゲームは上下左右の2方向だけで作られるシンプルな仕組みで、HTML・CSS・JavaScript・Canvasを組み合わせることでブラウザ上で動かせます。今日紹介したように、ゲームループ、物理や当たり判定、敵の生成、アイテム、ステージ生成といった小さな関数の積み重ねで1つのゲームが成り立っています。GitHub CopilotのようなAIを活用すれば、初心者でも本格的なプログラムに挑戦しやすくなります。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[14枚目/終わりの挨拶]</a:t>
            </a:r>
          </a:p>
          <a:p>
            <a:r>
              <a:t>以上で発表を終わります。ご清聴ありがとうございました。質問があればお気軽にどうぞ。</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731520" y="2194560"/>
            <a:ext cx="10698480" cy="1097280"/>
          </a:xfrm>
          <a:prstGeom prst="rect">
            <a:avLst/>
          </a:prstGeom>
          <a:noFill/>
        </p:spPr>
        <p:txBody>
          <a:bodyPr wrap="square">
            <a:spAutoFit/>
          </a:bodyPr>
          <a:lstStyle/>
          <a:p>
            <a:pPr algn="ctr"/>
            <a:r>
              <a:rPr sz="4400" b="1">
                <a:solidFill>
                  <a:srgbClr val="FFFFFF"/>
                </a:solidFill>
                <a:latin typeface="Meiryo"/>
              </a:rPr>
              <a:t>「Super JS Bros」を作ってみた！</a:t>
            </a:r>
          </a:p>
        </p:txBody>
      </p:sp>
      <p:sp>
        <p:nvSpPr>
          <p:cNvPr id="3" name="TextBox 2"/>
          <p:cNvSpPr txBox="1"/>
          <p:nvPr/>
        </p:nvSpPr>
        <p:spPr>
          <a:xfrm>
            <a:off x="731520" y="3291840"/>
            <a:ext cx="10698480" cy="731520"/>
          </a:xfrm>
          <a:prstGeom prst="rect">
            <a:avLst/>
          </a:prstGeom>
          <a:noFill/>
        </p:spPr>
        <p:txBody>
          <a:bodyPr wrap="square">
            <a:spAutoFit/>
          </a:bodyPr>
          <a:lstStyle/>
          <a:p>
            <a:pPr algn="ctr"/>
            <a:r>
              <a:rPr sz="2200" b="0">
                <a:solidFill>
                  <a:srgbClr val="FFA500"/>
                </a:solidFill>
                <a:latin typeface="Meiryo"/>
              </a:rPr>
              <a:t>2Dアクションゲームのしくみとコードを解説</a:t>
            </a:r>
          </a:p>
        </p:txBody>
      </p:sp>
      <p:sp>
        <p:nvSpPr>
          <p:cNvPr id="4" name="TextBox 3"/>
          <p:cNvSpPr txBox="1"/>
          <p:nvPr/>
        </p:nvSpPr>
        <p:spPr>
          <a:xfrm>
            <a:off x="731520" y="6035040"/>
            <a:ext cx="10698480" cy="457200"/>
          </a:xfrm>
          <a:prstGeom prst="rect">
            <a:avLst/>
          </a:prstGeom>
          <a:noFill/>
        </p:spPr>
        <p:txBody>
          <a:bodyPr wrap="square">
            <a:spAutoFit/>
          </a:bodyPr>
          <a:lstStyle/>
          <a:p>
            <a:pPr algn="ctr"/>
            <a:r>
              <a:rPr sz="1600" b="0">
                <a:solidFill>
                  <a:srgbClr val="FFFFFF"/>
                </a:solidFill>
                <a:latin typeface="Meiryo"/>
              </a:rPr>
              <a:t>発表者：〇〇高校 〇年〇組 〇〇 〇〇</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3000" b="1">
                <a:solidFill>
                  <a:srgbClr val="FFFFFF"/>
                </a:solidFill>
                <a:latin typeface="Meiryo"/>
              </a:defRPr>
            </a:pPr>
            <a:r>
              <a:t>2Dゲームとは？</a:t>
            </a:r>
          </a:p>
        </p:txBody>
      </p:sp>
      <p:sp>
        <p:nvSpPr>
          <p:cNvPr id="3" name="TextBox 2"/>
          <p:cNvSpPr txBox="1"/>
          <p:nvPr/>
        </p:nvSpPr>
        <p:spPr>
          <a:xfrm>
            <a:off x="11002975" y="320040"/>
            <a:ext cx="914400" cy="457200"/>
          </a:xfrm>
          <a:prstGeom prst="rect">
            <a:avLst/>
          </a:prstGeom>
          <a:noFill/>
        </p:spPr>
        <p:txBody>
          <a:bodyPr wrap="square">
            <a:spAutoFit/>
          </a:bodyPr>
          <a:lstStyle/>
          <a:p>
            <a:pPr algn="r"/>
            <a:r>
              <a:rPr sz="1400" b="0">
                <a:solidFill>
                  <a:srgbClr val="FFFFFF"/>
                </a:solidFill>
                <a:latin typeface="Meiryo"/>
              </a:rPr>
              <a:t>2/14</a:t>
            </a:r>
          </a:p>
        </p:txBody>
      </p:sp>
      <p:sp>
        <p:nvSpPr>
          <p:cNvPr id="4" name="TextBox 3"/>
          <p:cNvSpPr txBox="1"/>
          <p:nvPr/>
        </p:nvSpPr>
        <p:spPr>
          <a:xfrm>
            <a:off x="548640" y="1371600"/>
            <a:ext cx="5760720" cy="5029200"/>
          </a:xfrm>
          <a:prstGeom prst="rect">
            <a:avLst/>
          </a:prstGeom>
          <a:noFill/>
        </p:spPr>
        <p:txBody>
          <a:bodyPr wrap="square">
            <a:spAutoFit/>
          </a:bodyPr>
          <a:lstStyle/>
          <a:p>
            <a:pPr>
              <a:lnSpc>
                <a:spcPct val="130000"/>
              </a:lnSpc>
              <a:spcAft>
                <a:spcPts val="800"/>
              </a:spcAft>
            </a:pPr>
            <a:r>
              <a:rPr sz="2000">
                <a:solidFill>
                  <a:srgbClr val="222222"/>
                </a:solidFill>
                <a:latin typeface="Meiryo"/>
              </a:rPr>
              <a:t>・縦・横の2方向（X軸・Y軸）だけで表現される画面のゲーム</a:t>
            </a:r>
          </a:p>
          <a:p>
            <a:pPr>
              <a:lnSpc>
                <a:spcPct val="130000"/>
              </a:lnSpc>
              <a:spcAft>
                <a:spcPts val="800"/>
              </a:spcAft>
            </a:pPr>
            <a:r>
              <a:rPr sz="2000">
                <a:solidFill>
                  <a:srgbClr val="222222"/>
                </a:solidFill>
                <a:latin typeface="Meiryo"/>
              </a:rPr>
              <a:t>・スーパーマリオのような「横スクロールアクション」が代表例</a:t>
            </a:r>
          </a:p>
          <a:p>
            <a:pPr>
              <a:lnSpc>
                <a:spcPct val="130000"/>
              </a:lnSpc>
              <a:spcAft>
                <a:spcPts val="800"/>
              </a:spcAft>
            </a:pPr>
            <a:r>
              <a:rPr sz="2000">
                <a:solidFill>
                  <a:srgbClr val="222222"/>
                </a:solidFill>
                <a:latin typeface="Meiryo"/>
              </a:rPr>
              <a:t>・奥行き（Z軸）がない分、動きの仕組みがシンプルで学びやすい</a:t>
            </a:r>
          </a:p>
          <a:p>
            <a:pPr>
              <a:lnSpc>
                <a:spcPct val="130000"/>
              </a:lnSpc>
              <a:spcAft>
                <a:spcPts val="800"/>
              </a:spcAft>
            </a:pPr>
            <a:r>
              <a:rPr sz="2000">
                <a:solidFill>
                  <a:srgbClr val="222222"/>
                </a:solidFill>
                <a:latin typeface="Meiryo"/>
              </a:rPr>
              <a:t>・画面は「キャラクター」「背景（地形）」「敵」「アイテム」などの部品（オブジェクト）でできている</a:t>
            </a:r>
          </a:p>
          <a:p>
            <a:pPr>
              <a:lnSpc>
                <a:spcPct val="130000"/>
              </a:lnSpc>
              <a:spcAft>
                <a:spcPts val="800"/>
              </a:spcAft>
            </a:pPr>
            <a:r>
              <a:rPr sz="2000">
                <a:solidFill>
                  <a:srgbClr val="222222"/>
                </a:solidFill>
                <a:latin typeface="Meiryo"/>
              </a:rPr>
              <a:t>・1秒間に何十回も絵を描き直す＝パラパラ漫画のような仕組みで動く</a:t>
            </a:r>
          </a:p>
        </p:txBody>
      </p:sp>
      <p:sp>
        <p:nvSpPr>
          <p:cNvPr id="5" name="Rounded Rectangle 4"/>
          <p:cNvSpPr/>
          <p:nvPr/>
        </p:nvSpPr>
        <p:spPr>
          <a:xfrm>
            <a:off x="6675120" y="1463040"/>
            <a:ext cx="4937760" cy="4389120"/>
          </a:xfrm>
          <a:prstGeom prst="roundRect">
            <a:avLst/>
          </a:prstGeom>
          <a:solidFill>
            <a:srgbClr val="EAF2FF"/>
          </a:solidFill>
          <a:ln>
            <a:solidFill>
              <a:srgbClr val="2E6FE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b="1" sz="2000">
                <a:solidFill>
                  <a:srgbClr val="1B2A4A"/>
                </a:solidFill>
              </a:defRPr>
            </a:pPr>
            <a:r>
              <a:t>今回作ったゲーム「Super JS Bros」</a:t>
            </a:r>
          </a:p>
          <a:p>
            <a:pPr>
              <a:spcBef>
                <a:spcPts val="1000"/>
              </a:spcBef>
              <a:defRPr sz="1800">
                <a:solidFill>
                  <a:srgbClr val="222222"/>
                </a:solidFill>
              </a:defRPr>
            </a:pPr>
            <a:r>
              <a:t>・全5ステージのマリオ風アクション</a:t>
            </a:r>
          </a:p>
          <a:p>
            <a:pPr>
              <a:spcBef>
                <a:spcPts val="1000"/>
              </a:spcBef>
              <a:defRPr sz="1800">
                <a:solidFill>
                  <a:srgbClr val="222222"/>
                </a:solidFill>
              </a:defRPr>
            </a:pPr>
            <a:r>
              <a:t>・敵を踏んだりファイアボールで倒す</a:t>
            </a:r>
          </a:p>
          <a:p>
            <a:pPr>
              <a:spcBef>
                <a:spcPts val="1000"/>
              </a:spcBef>
              <a:defRPr sz="1800">
                <a:solidFill>
                  <a:srgbClr val="222222"/>
                </a:solidFill>
              </a:defRPr>
            </a:pPr>
            <a:r>
              <a:t>・パワーアップアイテムで強化</a:t>
            </a:r>
          </a:p>
          <a:p>
            <a:pPr>
              <a:spcBef>
                <a:spcPts val="1000"/>
              </a:spcBef>
              <a:defRPr sz="1800">
                <a:solidFill>
                  <a:srgbClr val="222222"/>
                </a:solidFill>
              </a:defRPr>
            </a:pPr>
            <a:r>
              <a:t>・ステージ最後のボスを倒してゴールへ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3000" b="1">
                <a:solidFill>
                  <a:srgbClr val="FFFFFF"/>
                </a:solidFill>
                <a:latin typeface="Meiryo"/>
              </a:defRPr>
            </a:pPr>
            <a:r>
              <a:t>使われているプログラミング言語</a:t>
            </a:r>
          </a:p>
        </p:txBody>
      </p:sp>
      <p:sp>
        <p:nvSpPr>
          <p:cNvPr id="3" name="TextBox 2"/>
          <p:cNvSpPr txBox="1"/>
          <p:nvPr/>
        </p:nvSpPr>
        <p:spPr>
          <a:xfrm>
            <a:off x="11002975" y="320040"/>
            <a:ext cx="914400" cy="457200"/>
          </a:xfrm>
          <a:prstGeom prst="rect">
            <a:avLst/>
          </a:prstGeom>
          <a:noFill/>
        </p:spPr>
        <p:txBody>
          <a:bodyPr wrap="square">
            <a:spAutoFit/>
          </a:bodyPr>
          <a:lstStyle/>
          <a:p>
            <a:pPr algn="r"/>
            <a:r>
              <a:rPr sz="1400" b="0">
                <a:solidFill>
                  <a:srgbClr val="FFFFFF"/>
                </a:solidFill>
                <a:latin typeface="Meiryo"/>
              </a:rPr>
              <a:t>3/14</a:t>
            </a:r>
          </a:p>
        </p:txBody>
      </p:sp>
      <p:sp>
        <p:nvSpPr>
          <p:cNvPr id="4" name="TextBox 3"/>
          <p:cNvSpPr txBox="1"/>
          <p:nvPr/>
        </p:nvSpPr>
        <p:spPr>
          <a:xfrm>
            <a:off x="548640" y="1371600"/>
            <a:ext cx="5486400" cy="5029200"/>
          </a:xfrm>
          <a:prstGeom prst="rect">
            <a:avLst/>
          </a:prstGeom>
          <a:noFill/>
        </p:spPr>
        <p:txBody>
          <a:bodyPr wrap="square">
            <a:spAutoFit/>
          </a:bodyPr>
          <a:lstStyle/>
          <a:p>
            <a:pPr>
              <a:lnSpc>
                <a:spcPct val="130000"/>
              </a:lnSpc>
              <a:spcAft>
                <a:spcPts val="800"/>
              </a:spcAft>
            </a:pPr>
            <a:r>
              <a:rPr sz="2000">
                <a:solidFill>
                  <a:srgbClr val="222222"/>
                </a:solidFill>
                <a:latin typeface="Meiryo"/>
              </a:rPr>
              <a:t>・HTML …「画面の入れ物」を作る言語（タイトルやスコア表示など）</a:t>
            </a:r>
          </a:p>
          <a:p>
            <a:pPr>
              <a:lnSpc>
                <a:spcPct val="130000"/>
              </a:lnSpc>
              <a:spcAft>
                <a:spcPts val="800"/>
              </a:spcAft>
            </a:pPr>
            <a:r>
              <a:rPr sz="2000">
                <a:solidFill>
                  <a:srgbClr val="222222"/>
                </a:solidFill>
                <a:latin typeface="Meiryo"/>
              </a:rPr>
              <a:t>・CSS …「見た目・デザイン」を整える言語（色や配置）</a:t>
            </a:r>
          </a:p>
          <a:p>
            <a:pPr>
              <a:lnSpc>
                <a:spcPct val="130000"/>
              </a:lnSpc>
              <a:spcAft>
                <a:spcPts val="800"/>
              </a:spcAft>
            </a:pPr>
            <a:r>
              <a:rPr sz="2000">
                <a:solidFill>
                  <a:srgbClr val="222222"/>
                </a:solidFill>
                <a:latin typeface="Meiryo"/>
              </a:rPr>
              <a:t>・JavaScript …「動き・計算・判定」を行うプログラミング言語</a:t>
            </a:r>
          </a:p>
          <a:p>
            <a:pPr>
              <a:lnSpc>
                <a:spcPct val="130000"/>
              </a:lnSpc>
              <a:spcAft>
                <a:spcPts val="800"/>
              </a:spcAft>
            </a:pPr>
            <a:r>
              <a:rPr sz="2000">
                <a:solidFill>
                  <a:srgbClr val="222222"/>
                </a:solidFill>
                <a:latin typeface="Meiryo"/>
              </a:rPr>
              <a:t>・Canvas API …JavaScriptから絵を描くための仕組み</a:t>
            </a:r>
          </a:p>
        </p:txBody>
      </p:sp>
      <p:sp>
        <p:nvSpPr>
          <p:cNvPr id="5" name="TextBox 4"/>
          <p:cNvSpPr txBox="1"/>
          <p:nvPr/>
        </p:nvSpPr>
        <p:spPr>
          <a:xfrm>
            <a:off x="6309360" y="1078992"/>
            <a:ext cx="5303520" cy="365760"/>
          </a:xfrm>
          <a:prstGeom prst="rect">
            <a:avLst/>
          </a:prstGeom>
          <a:noFill/>
        </p:spPr>
        <p:txBody>
          <a:bodyPr wrap="square">
            <a:spAutoFit/>
          </a:bodyPr>
          <a:lstStyle/>
          <a:p>
            <a:pPr algn="l"/>
            <a:r>
              <a:rPr sz="1500" b="1">
                <a:solidFill>
                  <a:srgbClr val="2E6FE0"/>
                </a:solidFill>
                <a:latin typeface="Meiryo"/>
              </a:rPr>
              <a:t>index.html の一部（画面の土台）</a:t>
            </a:r>
          </a:p>
        </p:txBody>
      </p:sp>
      <p:sp>
        <p:nvSpPr>
          <p:cNvPr id="6" name="Rounded Rectangle 5"/>
          <p:cNvSpPr/>
          <p:nvPr/>
        </p:nvSpPr>
        <p:spPr>
          <a:xfrm>
            <a:off x="6309360" y="1463040"/>
            <a:ext cx="5303520" cy="1828800"/>
          </a:xfrm>
          <a:prstGeom prst="roundRect">
            <a:avLst>
              <a:gd name="adj" fmla="val 3000"/>
            </a:avLst>
          </a:prstGeom>
          <a:solidFill>
            <a:srgbClr val="1E1E1E"/>
          </a:solidFill>
          <a:ln>
            <a:solidFill>
              <a:srgbClr val="444444"/>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37160"/>
          <a:lstStyle/>
          <a:p>
            <a:pPr algn="ctr">
              <a:lnSpc>
                <a:spcPct val="115000"/>
              </a:lnSpc>
            </a:pPr>
            <a:r>
              <a:rPr sz="1300">
                <a:solidFill>
                  <a:srgbClr val="D4D4D4"/>
                </a:solidFill>
                <a:latin typeface="Consolas"/>
              </a:rPr>
              <a:t>&lt;canvas id="gameCanvas" width="800" height="480"&gt;</a:t>
            </a:r>
          </a:p>
          <a:p>
            <a:pPr>
              <a:lnSpc>
                <a:spcPct val="115000"/>
              </a:lnSpc>
            </a:pPr>
            <a:r>
              <a:rPr sz="1300">
                <a:solidFill>
                  <a:srgbClr val="D4D4D4"/>
                </a:solidFill>
                <a:latin typeface="Consolas"/>
              </a:rPr>
              <a:t>&lt;/canvas&gt;</a:t>
            </a:r>
          </a:p>
          <a:p>
            <a:pPr>
              <a:lnSpc>
                <a:spcPct val="115000"/>
              </a:lnSpc>
            </a:pPr>
            <a:r>
              <a:rPr sz="1300">
                <a:solidFill>
                  <a:srgbClr val="D4D4D4"/>
                </a:solidFill>
                <a:latin typeface="Consolas"/>
              </a:rPr>
              <a:t>&lt;script&gt;</a:t>
            </a:r>
          </a:p>
          <a:p>
            <a:pPr>
              <a:lnSpc>
                <a:spcPct val="115000"/>
              </a:lnSpc>
            </a:pPr>
            <a:r>
              <a:rPr sz="1300">
                <a:solidFill>
                  <a:srgbClr val="D4D4D4"/>
                </a:solidFill>
                <a:latin typeface="Consolas"/>
              </a:rPr>
              <a:t>  const ctx = canvas.getContext('2d');</a:t>
            </a:r>
          </a:p>
          <a:p>
            <a:pPr>
              <a:lnSpc>
                <a:spcPct val="115000"/>
              </a:lnSpc>
            </a:pPr>
            <a:r>
              <a:rPr sz="1300">
                <a:solidFill>
                  <a:srgbClr val="D4D4D4"/>
                </a:solidFill>
                <a:latin typeface="Consolas"/>
              </a:rPr>
              <a:t>&lt;/script&gt;</a:t>
            </a:r>
          </a:p>
        </p:txBody>
      </p:sp>
      <p:sp>
        <p:nvSpPr>
          <p:cNvPr id="7" name="TextBox 6"/>
          <p:cNvSpPr txBox="1"/>
          <p:nvPr/>
        </p:nvSpPr>
        <p:spPr>
          <a:xfrm>
            <a:off x="6309360" y="3566160"/>
            <a:ext cx="5303520" cy="2560320"/>
          </a:xfrm>
          <a:prstGeom prst="rect">
            <a:avLst/>
          </a:prstGeom>
          <a:noFill/>
        </p:spPr>
        <p:txBody>
          <a:bodyPr wrap="square">
            <a:spAutoFit/>
          </a:bodyPr>
          <a:lstStyle/>
          <a:p>
            <a:pPr algn="l"/>
            <a:r>
              <a:rPr sz="1600" b="0">
                <a:solidFill>
                  <a:srgbClr val="222222"/>
                </a:solidFill>
                <a:latin typeface="Meiryo"/>
              </a:rPr>
              <a:t>ポイント：このゲームは index.html という1つのファイルの中に、HTML（画面の枠）・CSS（見た目）・JavaScript（動きの処理）が全部まとめて書かれています。JavaScriptがCanvas（キャンバス＝お絵かき用の板）に毎フレーム絵を描き直すことでアニメーションが実現してい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3000" b="1">
                <a:solidFill>
                  <a:srgbClr val="FFFFFF"/>
                </a:solidFill>
                <a:latin typeface="Meiryo"/>
              </a:defRPr>
            </a:pPr>
            <a:r>
              <a:t>ゲームのルール・遊び方</a:t>
            </a:r>
          </a:p>
        </p:txBody>
      </p:sp>
      <p:sp>
        <p:nvSpPr>
          <p:cNvPr id="3" name="TextBox 2"/>
          <p:cNvSpPr txBox="1"/>
          <p:nvPr/>
        </p:nvSpPr>
        <p:spPr>
          <a:xfrm>
            <a:off x="11002975" y="320040"/>
            <a:ext cx="914400" cy="457200"/>
          </a:xfrm>
          <a:prstGeom prst="rect">
            <a:avLst/>
          </a:prstGeom>
          <a:noFill/>
        </p:spPr>
        <p:txBody>
          <a:bodyPr wrap="square">
            <a:spAutoFit/>
          </a:bodyPr>
          <a:lstStyle/>
          <a:p>
            <a:pPr algn="r"/>
            <a:r>
              <a:rPr sz="1400" b="0">
                <a:solidFill>
                  <a:srgbClr val="FFFFFF"/>
                </a:solidFill>
                <a:latin typeface="Meiryo"/>
              </a:rPr>
              <a:t>4/14</a:t>
            </a:r>
          </a:p>
        </p:txBody>
      </p:sp>
      <p:sp>
        <p:nvSpPr>
          <p:cNvPr id="4" name="TextBox 3"/>
          <p:cNvSpPr txBox="1"/>
          <p:nvPr/>
        </p:nvSpPr>
        <p:spPr>
          <a:xfrm>
            <a:off x="548640" y="1371600"/>
            <a:ext cx="5669280" cy="5029200"/>
          </a:xfrm>
          <a:prstGeom prst="rect">
            <a:avLst/>
          </a:prstGeom>
          <a:noFill/>
        </p:spPr>
        <p:txBody>
          <a:bodyPr wrap="square">
            <a:spAutoFit/>
          </a:bodyPr>
          <a:lstStyle/>
          <a:p>
            <a:pPr>
              <a:lnSpc>
                <a:spcPct val="130000"/>
              </a:lnSpc>
              <a:spcAft>
                <a:spcPts val="800"/>
              </a:spcAft>
            </a:pPr>
            <a:r>
              <a:rPr sz="1900">
                <a:solidFill>
                  <a:srgbClr val="222222"/>
                </a:solidFill>
                <a:latin typeface="Meiryo"/>
              </a:rPr>
              <a:t>・← → キーで移動、スペース／↑キーでジャンプ</a:t>
            </a:r>
          </a:p>
          <a:p>
            <a:pPr>
              <a:lnSpc>
                <a:spcPct val="130000"/>
              </a:lnSpc>
              <a:spcAft>
                <a:spcPts val="800"/>
              </a:spcAft>
            </a:pPr>
            <a:r>
              <a:rPr sz="1900">
                <a:solidFill>
                  <a:srgbClr val="222222"/>
                </a:solidFill>
                <a:latin typeface="Meiryo"/>
              </a:rPr>
              <a:t>・F キーまたは Shift キーでファイアボール攻撃（要ファイアパワー）</a:t>
            </a:r>
          </a:p>
          <a:p>
            <a:pPr>
              <a:lnSpc>
                <a:spcPct val="130000"/>
              </a:lnSpc>
              <a:spcAft>
                <a:spcPts val="800"/>
              </a:spcAft>
            </a:pPr>
            <a:r>
              <a:rPr sz="1900">
                <a:solidFill>
                  <a:srgbClr val="222222"/>
                </a:solidFill>
                <a:latin typeface="Meiryo"/>
              </a:rPr>
              <a:t>・敵の上に乗ると「ふみつけ」で倒せる</a:t>
            </a:r>
          </a:p>
          <a:p>
            <a:pPr>
              <a:lnSpc>
                <a:spcPct val="130000"/>
              </a:lnSpc>
              <a:spcAft>
                <a:spcPts val="800"/>
              </a:spcAft>
            </a:pPr>
            <a:r>
              <a:rPr sz="1900">
                <a:solidFill>
                  <a:srgbClr val="222222"/>
                </a:solidFill>
                <a:latin typeface="Meiryo"/>
              </a:rPr>
              <a:t>・コインやパワーアップアイテムを集めてスコアアップ</a:t>
            </a:r>
          </a:p>
          <a:p>
            <a:pPr>
              <a:lnSpc>
                <a:spcPct val="130000"/>
              </a:lnSpc>
              <a:spcAft>
                <a:spcPts val="800"/>
              </a:spcAft>
            </a:pPr>
            <a:r>
              <a:rPr sz="1900">
                <a:solidFill>
                  <a:srgbClr val="222222"/>
                </a:solidFill>
                <a:latin typeface="Meiryo"/>
              </a:rPr>
              <a:t>・スパイク（トゲ）やボスに当たるとミス（残機が減る）</a:t>
            </a:r>
          </a:p>
          <a:p>
            <a:pPr>
              <a:lnSpc>
                <a:spcPct val="130000"/>
              </a:lnSpc>
              <a:spcAft>
                <a:spcPts val="800"/>
              </a:spcAft>
            </a:pPr>
            <a:r>
              <a:rPr sz="1900">
                <a:solidFill>
                  <a:srgbClr val="222222"/>
                </a:solidFill>
                <a:latin typeface="Meiryo"/>
              </a:rPr>
              <a:t>・残機（LIVES）が0になるとゲームオーバー</a:t>
            </a:r>
          </a:p>
          <a:p>
            <a:pPr>
              <a:lnSpc>
                <a:spcPct val="130000"/>
              </a:lnSpc>
              <a:spcAft>
                <a:spcPts val="800"/>
              </a:spcAft>
            </a:pPr>
            <a:r>
              <a:rPr sz="1900">
                <a:solidFill>
                  <a:srgbClr val="222222"/>
                </a:solidFill>
                <a:latin typeface="Meiryo"/>
              </a:rPr>
              <a:t>・各ステージの奥にいるゴールに到達すればステージクリア</a:t>
            </a:r>
          </a:p>
          <a:p>
            <a:pPr>
              <a:lnSpc>
                <a:spcPct val="130000"/>
              </a:lnSpc>
              <a:spcAft>
                <a:spcPts val="800"/>
              </a:spcAft>
            </a:pPr>
            <a:r>
              <a:rPr sz="1900">
                <a:solidFill>
                  <a:srgbClr val="222222"/>
                </a:solidFill>
                <a:latin typeface="Meiryo"/>
              </a:rPr>
              <a:t>・ステージ3以降はボスキャラを倒さないとゴールに進めない</a:t>
            </a:r>
          </a:p>
        </p:txBody>
      </p:sp>
      <p:sp>
        <p:nvSpPr>
          <p:cNvPr id="5" name="TextBox 4"/>
          <p:cNvSpPr txBox="1"/>
          <p:nvPr/>
        </p:nvSpPr>
        <p:spPr>
          <a:xfrm>
            <a:off x="6492240" y="1463040"/>
            <a:ext cx="5120640" cy="4572000"/>
          </a:xfrm>
          <a:prstGeom prst="rect">
            <a:avLst/>
          </a:prstGeom>
          <a:noFill/>
        </p:spPr>
        <p:txBody>
          <a:bodyPr wrap="square">
            <a:spAutoFit/>
          </a:bodyPr>
          <a:lstStyle/>
          <a:p>
            <a:pPr algn="l">
              <a:lnSpc>
                <a:spcPct val="140000"/>
              </a:lnSpc>
            </a:pPr>
            <a:r>
              <a:rPr sz="1800" b="0">
                <a:solidFill>
                  <a:srgbClr val="1B2A4A"/>
                </a:solidFill>
                <a:latin typeface="Meiryo"/>
              </a:rPr>
              <a:t>全5ステージクリアで「WIN（ゲームクリア）」！</a:t>
            </a:r>
          </a:p>
          <a:p>
            <a:pPr algn="l">
              <a:lnSpc>
                <a:spcPct val="140000"/>
              </a:lnSpc>
            </a:pPr>
          </a:p>
          <a:p>
            <a:pPr algn="l">
              <a:lnSpc>
                <a:spcPct val="140000"/>
              </a:lnSpc>
            </a:pPr>
            <a:r>
              <a:rPr sz="1800" b="0">
                <a:solidFill>
                  <a:srgbClr val="1B2A4A"/>
                </a:solidFill>
                <a:latin typeface="Meiryo"/>
              </a:rPr>
              <a:t>パワーアップの種類：</a:t>
            </a:r>
          </a:p>
          <a:p>
            <a:pPr algn="l">
              <a:lnSpc>
                <a:spcPct val="140000"/>
              </a:lnSpc>
            </a:pPr>
            <a:r>
              <a:rPr sz="1800" b="0">
                <a:solidFill>
                  <a:srgbClr val="1B2A4A"/>
                </a:solidFill>
                <a:latin typeface="Meiryo"/>
              </a:rPr>
              <a:t>・スピードアップ：移動が速くなる</a:t>
            </a:r>
          </a:p>
          <a:p>
            <a:pPr algn="l">
              <a:lnSpc>
                <a:spcPct val="140000"/>
              </a:lnSpc>
            </a:pPr>
            <a:r>
              <a:rPr sz="1800" b="0">
                <a:solidFill>
                  <a:srgbClr val="1B2A4A"/>
                </a:solidFill>
                <a:latin typeface="Meiryo"/>
              </a:rPr>
              <a:t>・巨大化：体が大きくなる</a:t>
            </a:r>
          </a:p>
          <a:p>
            <a:pPr algn="l">
              <a:lnSpc>
                <a:spcPct val="140000"/>
              </a:lnSpc>
            </a:pPr>
            <a:r>
              <a:rPr sz="1800" b="0">
                <a:solidFill>
                  <a:srgbClr val="1B2A4A"/>
                </a:solidFill>
                <a:latin typeface="Meiryo"/>
              </a:rPr>
              <a:t>・ファイアパワー：ファイアボールが撃てる</a:t>
            </a:r>
          </a:p>
          <a:p>
            <a:pPr algn="l">
              <a:lnSpc>
                <a:spcPct val="140000"/>
              </a:lnSpc>
            </a:pPr>
            <a:r>
              <a:rPr sz="1800" b="0">
                <a:solidFill>
                  <a:srgbClr val="1B2A4A"/>
                </a:solidFill>
                <a:latin typeface="Meiryo"/>
              </a:rPr>
              <a:t>・無敵化（スター）：一定時間ダメージを受けない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3000" b="1">
                <a:solidFill>
                  <a:srgbClr val="FFFFFF"/>
                </a:solidFill>
                <a:latin typeface="Meiryo"/>
              </a:defRPr>
            </a:pPr>
            <a:r>
              <a:t>コード解説① ゲームが動く仕組み（ループ）</a:t>
            </a:r>
          </a:p>
        </p:txBody>
      </p:sp>
      <p:sp>
        <p:nvSpPr>
          <p:cNvPr id="3" name="TextBox 2"/>
          <p:cNvSpPr txBox="1"/>
          <p:nvPr/>
        </p:nvSpPr>
        <p:spPr>
          <a:xfrm>
            <a:off x="365760" y="1097280"/>
            <a:ext cx="8229600" cy="457200"/>
          </a:xfrm>
          <a:prstGeom prst="rect">
            <a:avLst/>
          </a:prstGeom>
          <a:noFill/>
        </p:spPr>
        <p:txBody>
          <a:bodyPr wrap="square">
            <a:spAutoFit/>
          </a:bodyPr>
          <a:lstStyle/>
          <a:p>
            <a:pPr algn="l"/>
            <a:r>
              <a:rPr sz="1600" b="1">
                <a:solidFill>
                  <a:srgbClr val="2E6FE0"/>
                </a:solidFill>
                <a:latin typeface="Meiryo"/>
              </a:rPr>
              <a:t>ここから実際のコードを見ながら解説します（最重要パート）</a:t>
            </a:r>
          </a:p>
        </p:txBody>
      </p:sp>
      <p:sp>
        <p:nvSpPr>
          <p:cNvPr id="4" name="TextBox 3"/>
          <p:cNvSpPr txBox="1"/>
          <p:nvPr/>
        </p:nvSpPr>
        <p:spPr>
          <a:xfrm>
            <a:off x="11002975" y="320040"/>
            <a:ext cx="914400" cy="457200"/>
          </a:xfrm>
          <a:prstGeom prst="rect">
            <a:avLst/>
          </a:prstGeom>
          <a:noFill/>
        </p:spPr>
        <p:txBody>
          <a:bodyPr wrap="square">
            <a:spAutoFit/>
          </a:bodyPr>
          <a:lstStyle/>
          <a:p>
            <a:pPr algn="r"/>
            <a:r>
              <a:rPr sz="1400" b="0">
                <a:solidFill>
                  <a:srgbClr val="FFFFFF"/>
                </a:solidFill>
                <a:latin typeface="Meiryo"/>
              </a:rPr>
              <a:t>5/14</a:t>
            </a:r>
          </a:p>
        </p:txBody>
      </p:sp>
      <p:sp>
        <p:nvSpPr>
          <p:cNvPr id="5" name="TextBox 4"/>
          <p:cNvSpPr txBox="1"/>
          <p:nvPr/>
        </p:nvSpPr>
        <p:spPr>
          <a:xfrm>
            <a:off x="548640" y="1536192"/>
            <a:ext cx="5577840" cy="365760"/>
          </a:xfrm>
          <a:prstGeom prst="rect">
            <a:avLst/>
          </a:prstGeom>
          <a:noFill/>
        </p:spPr>
        <p:txBody>
          <a:bodyPr wrap="square">
            <a:spAutoFit/>
          </a:bodyPr>
          <a:lstStyle/>
          <a:p>
            <a:pPr algn="l"/>
            <a:r>
              <a:rPr sz="1500" b="1">
                <a:solidFill>
                  <a:srgbClr val="2E6FE0"/>
                </a:solidFill>
                <a:latin typeface="Meiryo"/>
              </a:rPr>
              <a:t>index.html 1233行目付近</a:t>
            </a:r>
          </a:p>
        </p:txBody>
      </p:sp>
      <p:sp>
        <p:nvSpPr>
          <p:cNvPr id="6" name="Rounded Rectangle 5"/>
          <p:cNvSpPr/>
          <p:nvPr/>
        </p:nvSpPr>
        <p:spPr>
          <a:xfrm>
            <a:off x="548640" y="1920240"/>
            <a:ext cx="5577840" cy="2377440"/>
          </a:xfrm>
          <a:prstGeom prst="roundRect">
            <a:avLst>
              <a:gd name="adj" fmla="val 3000"/>
            </a:avLst>
          </a:prstGeom>
          <a:solidFill>
            <a:srgbClr val="1E1E1E"/>
          </a:solidFill>
          <a:ln>
            <a:solidFill>
              <a:srgbClr val="444444"/>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37160"/>
          <a:lstStyle/>
          <a:p>
            <a:pPr algn="ctr">
              <a:lnSpc>
                <a:spcPct val="115000"/>
              </a:lnSpc>
            </a:pPr>
            <a:r>
              <a:rPr sz="1300">
                <a:solidFill>
                  <a:srgbClr val="D4D4D4"/>
                </a:solidFill>
                <a:latin typeface="Consolas"/>
              </a:rPr>
              <a:t>// --- Loop ---</a:t>
            </a:r>
          </a:p>
          <a:p>
            <a:pPr>
              <a:lnSpc>
                <a:spcPct val="115000"/>
              </a:lnSpc>
            </a:pPr>
            <a:r>
              <a:rPr sz="1300">
                <a:solidFill>
                  <a:srgbClr val="D4D4D4"/>
                </a:solidFill>
                <a:latin typeface="Consolas"/>
              </a:rPr>
              <a:t>function gameLoop() {</a:t>
            </a:r>
          </a:p>
          <a:p>
            <a:pPr>
              <a:lnSpc>
                <a:spcPct val="115000"/>
              </a:lnSpc>
            </a:pPr>
            <a:r>
              <a:rPr sz="1300">
                <a:solidFill>
                  <a:srgbClr val="D4D4D4"/>
                </a:solidFill>
                <a:latin typeface="Consolas"/>
              </a:rPr>
              <a:t>  update();   // 状態を1コマ分計算する</a:t>
            </a:r>
          </a:p>
          <a:p>
            <a:pPr>
              <a:lnSpc>
                <a:spcPct val="115000"/>
              </a:lnSpc>
            </a:pPr>
            <a:r>
              <a:rPr sz="1300">
                <a:solidFill>
                  <a:srgbClr val="D4D4D4"/>
                </a:solidFill>
                <a:latin typeface="Consolas"/>
              </a:rPr>
              <a:t>  draw();     // 画面に絵を描き直す</a:t>
            </a:r>
          </a:p>
          <a:p>
            <a:pPr>
              <a:lnSpc>
                <a:spcPct val="115000"/>
              </a:lnSpc>
            </a:pPr>
            <a:r>
              <a:rPr sz="1300">
                <a:solidFill>
                  <a:srgbClr val="D4D4D4"/>
                </a:solidFill>
                <a:latin typeface="Consolas"/>
              </a:rPr>
              <a:t>  requestAnimationFrame(gameLoop); // 次のコマへ</a:t>
            </a:r>
          </a:p>
          <a:p>
            <a:pPr>
              <a:lnSpc>
                <a:spcPct val="115000"/>
              </a:lnSpc>
            </a:pPr>
            <a:r>
              <a:rPr sz="1300">
                <a:solidFill>
                  <a:srgbClr val="D4D4D4"/>
                </a:solidFill>
                <a:latin typeface="Consolas"/>
              </a:rPr>
              <a:t>}</a:t>
            </a:r>
          </a:p>
        </p:txBody>
      </p:sp>
      <p:sp>
        <p:nvSpPr>
          <p:cNvPr id="7" name="TextBox 6"/>
          <p:cNvSpPr txBox="1"/>
          <p:nvPr/>
        </p:nvSpPr>
        <p:spPr>
          <a:xfrm>
            <a:off x="6309360" y="1920240"/>
            <a:ext cx="5303520" cy="3200400"/>
          </a:xfrm>
          <a:prstGeom prst="rect">
            <a:avLst/>
          </a:prstGeom>
          <a:noFill/>
        </p:spPr>
        <p:txBody>
          <a:bodyPr wrap="square">
            <a:spAutoFit/>
          </a:bodyPr>
          <a:lstStyle/>
          <a:p>
            <a:pPr algn="l">
              <a:lnSpc>
                <a:spcPct val="130000"/>
              </a:lnSpc>
            </a:pPr>
            <a:r>
              <a:rPr sz="1700" b="0">
                <a:solidFill>
                  <a:srgbClr val="222222"/>
                </a:solidFill>
                <a:latin typeface="Meiryo"/>
              </a:rPr>
              <a:t>これは「ゲームループ」と呼ばれる仕組みです。</a:t>
            </a:r>
          </a:p>
          <a:p>
            <a:pPr algn="l">
              <a:lnSpc>
                <a:spcPct val="130000"/>
              </a:lnSpc>
            </a:pPr>
          </a:p>
          <a:p>
            <a:pPr algn="l">
              <a:lnSpc>
                <a:spcPct val="130000"/>
              </a:lnSpc>
            </a:pPr>
            <a:r>
              <a:rPr sz="1700" b="0">
                <a:solidFill>
                  <a:srgbClr val="222222"/>
                </a:solidFill>
                <a:latin typeface="Meiryo"/>
              </a:rPr>
              <a:t>requestAnimationFrame は「次に画面を描き直すタイミングでもう一度この関数を呼んでね」とブラウザにお願いする命令です。</a:t>
            </a:r>
          </a:p>
          <a:p>
            <a:pPr algn="l">
              <a:lnSpc>
                <a:spcPct val="130000"/>
              </a:lnSpc>
            </a:pPr>
          </a:p>
          <a:p>
            <a:pPr algn="l">
              <a:lnSpc>
                <a:spcPct val="130000"/>
              </a:lnSpc>
            </a:pPr>
            <a:r>
              <a:rPr sz="1700" b="0">
                <a:solidFill>
                  <a:srgbClr val="222222"/>
                </a:solidFill>
                <a:latin typeface="Meiryo"/>
              </a:rPr>
              <a:t>この update → draw → update → draw … の繰り返しが、1秒間に約60回行われることで、キャラクターが滑らかに動くアニメーションになります。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3000" b="1">
                <a:solidFill>
                  <a:srgbClr val="FFFFFF"/>
                </a:solidFill>
                <a:latin typeface="Meiryo"/>
              </a:defRPr>
            </a:pPr>
            <a:r>
              <a:t>コード解説② プレイヤーの動き（重力・当たり判定）</a:t>
            </a:r>
          </a:p>
        </p:txBody>
      </p:sp>
      <p:sp>
        <p:nvSpPr>
          <p:cNvPr id="3" name="TextBox 2"/>
          <p:cNvSpPr txBox="1"/>
          <p:nvPr/>
        </p:nvSpPr>
        <p:spPr>
          <a:xfrm>
            <a:off x="11002975" y="320040"/>
            <a:ext cx="914400" cy="457200"/>
          </a:xfrm>
          <a:prstGeom prst="rect">
            <a:avLst/>
          </a:prstGeom>
          <a:noFill/>
        </p:spPr>
        <p:txBody>
          <a:bodyPr wrap="square">
            <a:spAutoFit/>
          </a:bodyPr>
          <a:lstStyle/>
          <a:p>
            <a:pPr algn="r"/>
            <a:r>
              <a:rPr sz="1400" b="0">
                <a:solidFill>
                  <a:srgbClr val="FFFFFF"/>
                </a:solidFill>
                <a:latin typeface="Meiryo"/>
              </a:rPr>
              <a:t>6/14</a:t>
            </a:r>
          </a:p>
        </p:txBody>
      </p:sp>
      <p:sp>
        <p:nvSpPr>
          <p:cNvPr id="4" name="TextBox 3"/>
          <p:cNvSpPr txBox="1"/>
          <p:nvPr/>
        </p:nvSpPr>
        <p:spPr>
          <a:xfrm>
            <a:off x="548640" y="1078992"/>
            <a:ext cx="5760720" cy="365760"/>
          </a:xfrm>
          <a:prstGeom prst="rect">
            <a:avLst/>
          </a:prstGeom>
          <a:noFill/>
        </p:spPr>
        <p:txBody>
          <a:bodyPr wrap="square">
            <a:spAutoFit/>
          </a:bodyPr>
          <a:lstStyle/>
          <a:p>
            <a:pPr algn="l"/>
            <a:r>
              <a:rPr sz="1500" b="1">
                <a:solidFill>
                  <a:srgbClr val="2E6FE0"/>
                </a:solidFill>
                <a:latin typeface="Meiryo"/>
              </a:rPr>
              <a:t>index.html 397行目付近</a:t>
            </a:r>
          </a:p>
        </p:txBody>
      </p:sp>
      <p:sp>
        <p:nvSpPr>
          <p:cNvPr id="5" name="Rounded Rectangle 4"/>
          <p:cNvSpPr/>
          <p:nvPr/>
        </p:nvSpPr>
        <p:spPr>
          <a:xfrm>
            <a:off x="548640" y="1463040"/>
            <a:ext cx="5760720" cy="3291840"/>
          </a:xfrm>
          <a:prstGeom prst="roundRect">
            <a:avLst>
              <a:gd name="adj" fmla="val 3000"/>
            </a:avLst>
          </a:prstGeom>
          <a:solidFill>
            <a:srgbClr val="1E1E1E"/>
          </a:solidFill>
          <a:ln>
            <a:solidFill>
              <a:srgbClr val="444444"/>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37160"/>
          <a:lstStyle/>
          <a:p>
            <a:pPr algn="ctr">
              <a:lnSpc>
                <a:spcPct val="115000"/>
              </a:lnSpc>
            </a:pPr>
            <a:r>
              <a:rPr sz="1300">
                <a:solidFill>
                  <a:srgbClr val="D4D4D4"/>
                </a:solidFill>
                <a:latin typeface="Consolas"/>
              </a:rPr>
              <a:t>function moveWithCollision(e, useGravity = true) {</a:t>
            </a:r>
          </a:p>
          <a:p>
            <a:pPr>
              <a:lnSpc>
                <a:spcPct val="115000"/>
              </a:lnSpc>
            </a:pPr>
            <a:r>
              <a:rPr sz="1300">
                <a:solidFill>
                  <a:srgbClr val="D4D4D4"/>
                </a:solidFill>
                <a:latin typeface="Consolas"/>
              </a:rPr>
              <a:t>  e.x += e.vx;           // 横方向に移動</a:t>
            </a:r>
          </a:p>
          <a:p>
            <a:pPr>
              <a:lnSpc>
                <a:spcPct val="115000"/>
              </a:lnSpc>
            </a:pPr>
            <a:r>
              <a:rPr sz="1300">
                <a:solidFill>
                  <a:srgbClr val="D4D4D4"/>
                </a:solidFill>
                <a:latin typeface="Consolas"/>
              </a:rPr>
              <a:t>  // ...壁にぶつかったら止める処理...</a:t>
            </a:r>
          </a:p>
          <a:p>
            <a:pPr>
              <a:lnSpc>
                <a:spcPct val="115000"/>
              </a:lnSpc>
            </a:pPr>
          </a:p>
          <a:p>
            <a:pPr>
              <a:lnSpc>
                <a:spcPct val="115000"/>
              </a:lnSpc>
            </a:pPr>
            <a:r>
              <a:rPr sz="1300">
                <a:solidFill>
                  <a:srgbClr val="D4D4D4"/>
                </a:solidFill>
                <a:latin typeface="Consolas"/>
              </a:rPr>
              <a:t>  if (useGravity) e.vy += 0.5; // 重力で下向きの速度を増やす</a:t>
            </a:r>
          </a:p>
          <a:p>
            <a:pPr>
              <a:lnSpc>
                <a:spcPct val="115000"/>
              </a:lnSpc>
            </a:pPr>
            <a:r>
              <a:rPr sz="1300">
                <a:solidFill>
                  <a:srgbClr val="D4D4D4"/>
                </a:solidFill>
                <a:latin typeface="Consolas"/>
              </a:rPr>
              <a:t>  e.y += e.vy;           // 縦方向に移動</a:t>
            </a:r>
          </a:p>
          <a:p>
            <a:pPr>
              <a:lnSpc>
                <a:spcPct val="115000"/>
              </a:lnSpc>
            </a:pPr>
            <a:r>
              <a:rPr sz="1300">
                <a:solidFill>
                  <a:srgbClr val="D4D4D4"/>
                </a:solidFill>
                <a:latin typeface="Consolas"/>
              </a:rPr>
              <a:t>  e.onGround = false;</a:t>
            </a:r>
          </a:p>
          <a:p>
            <a:pPr>
              <a:lnSpc>
                <a:spcPct val="115000"/>
              </a:lnSpc>
            </a:pPr>
            <a:r>
              <a:rPr sz="1300">
                <a:solidFill>
                  <a:srgbClr val="D4D4D4"/>
                </a:solidFill>
                <a:latin typeface="Consolas"/>
              </a:rPr>
              <a:t>  // 地面や床の tile にぶつかったら</a:t>
            </a:r>
          </a:p>
          <a:p>
            <a:pPr>
              <a:lnSpc>
                <a:spcPct val="115000"/>
              </a:lnSpc>
            </a:pPr>
            <a:r>
              <a:rPr sz="1300">
                <a:solidFill>
                  <a:srgbClr val="D4D4D4"/>
                </a:solidFill>
                <a:latin typeface="Consolas"/>
              </a:rPr>
              <a:t>  // e.y を調整し、onGround = true にする</a:t>
            </a:r>
          </a:p>
          <a:p>
            <a:pPr>
              <a:lnSpc>
                <a:spcPct val="115000"/>
              </a:lnSpc>
            </a:pPr>
            <a:r>
              <a:rPr sz="1300">
                <a:solidFill>
                  <a:srgbClr val="D4D4D4"/>
                </a:solidFill>
                <a:latin typeface="Consolas"/>
              </a:rPr>
              <a:t>}</a:t>
            </a:r>
          </a:p>
        </p:txBody>
      </p:sp>
      <p:sp>
        <p:nvSpPr>
          <p:cNvPr id="6" name="TextBox 5"/>
          <p:cNvSpPr txBox="1"/>
          <p:nvPr/>
        </p:nvSpPr>
        <p:spPr>
          <a:xfrm>
            <a:off x="6492240" y="1463040"/>
            <a:ext cx="5120640" cy="4389120"/>
          </a:xfrm>
          <a:prstGeom prst="rect">
            <a:avLst/>
          </a:prstGeom>
          <a:noFill/>
        </p:spPr>
        <p:txBody>
          <a:bodyPr wrap="square">
            <a:spAutoFit/>
          </a:bodyPr>
          <a:lstStyle/>
          <a:p>
            <a:pPr algn="l">
              <a:lnSpc>
                <a:spcPct val="130000"/>
              </a:lnSpc>
            </a:pPr>
            <a:r>
              <a:rPr sz="1600" b="0">
                <a:solidFill>
                  <a:srgbClr val="222222"/>
                </a:solidFill>
                <a:latin typeface="Meiryo"/>
              </a:rPr>
              <a:t>vx（横方向の速さ）・vy（縦方向の速さ）という数値を使い、毎フレーム座標（x, y）に足し算することでキャラクターを動かしています。</a:t>
            </a:r>
          </a:p>
          <a:p>
            <a:pPr algn="l">
              <a:lnSpc>
                <a:spcPct val="130000"/>
              </a:lnSpc>
            </a:pPr>
          </a:p>
          <a:p>
            <a:pPr algn="l">
              <a:lnSpc>
                <a:spcPct val="130000"/>
              </a:lnSpc>
            </a:pPr>
            <a:r>
              <a:rPr sz="1600" b="0">
                <a:solidFill>
                  <a:srgbClr val="222222"/>
                </a:solidFill>
                <a:latin typeface="Meiryo"/>
              </a:rPr>
              <a:t>「vy += 0.5」は現実の重力を再現する部分です。ジャンプするとvyがマイナス（上向き）になり、時間とともに0.5ずつ足されてだんだん下向きに変わっていく＝放物線を描いて落ちてくる動きになります。</a:t>
            </a:r>
          </a:p>
          <a:p>
            <a:pPr algn="l">
              <a:lnSpc>
                <a:spcPct val="130000"/>
              </a:lnSpc>
            </a:pPr>
          </a:p>
          <a:p>
            <a:pPr algn="l">
              <a:lnSpc>
                <a:spcPct val="130000"/>
              </a:lnSpc>
            </a:pPr>
            <a:r>
              <a:rPr sz="1600" b="0">
                <a:solidFill>
                  <a:srgbClr val="222222"/>
                </a:solidFill>
                <a:latin typeface="Meiryo"/>
              </a:rPr>
              <a:t>地面のタイル（ブロック）にぶつかったときは、めり込まないように座標を調整し、onGround（地面についているか）をtrueにします。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3000" b="1">
                <a:solidFill>
                  <a:srgbClr val="FFFFFF"/>
                </a:solidFill>
                <a:latin typeface="Meiryo"/>
              </a:defRPr>
            </a:pPr>
            <a:r>
              <a:t>コード解説③ 敵キャラクターの仕組み</a:t>
            </a:r>
          </a:p>
        </p:txBody>
      </p:sp>
      <p:sp>
        <p:nvSpPr>
          <p:cNvPr id="3" name="TextBox 2"/>
          <p:cNvSpPr txBox="1"/>
          <p:nvPr/>
        </p:nvSpPr>
        <p:spPr>
          <a:xfrm>
            <a:off x="11002975" y="320040"/>
            <a:ext cx="914400" cy="457200"/>
          </a:xfrm>
          <a:prstGeom prst="rect">
            <a:avLst/>
          </a:prstGeom>
          <a:noFill/>
        </p:spPr>
        <p:txBody>
          <a:bodyPr wrap="square">
            <a:spAutoFit/>
          </a:bodyPr>
          <a:lstStyle/>
          <a:p>
            <a:pPr algn="r"/>
            <a:r>
              <a:rPr sz="1400" b="0">
                <a:solidFill>
                  <a:srgbClr val="FFFFFF"/>
                </a:solidFill>
                <a:latin typeface="Meiryo"/>
              </a:rPr>
              <a:t>7/14</a:t>
            </a:r>
          </a:p>
        </p:txBody>
      </p:sp>
      <p:sp>
        <p:nvSpPr>
          <p:cNvPr id="4" name="TextBox 3"/>
          <p:cNvSpPr txBox="1"/>
          <p:nvPr/>
        </p:nvSpPr>
        <p:spPr>
          <a:xfrm>
            <a:off x="548640" y="1078992"/>
            <a:ext cx="5943600" cy="365760"/>
          </a:xfrm>
          <a:prstGeom prst="rect">
            <a:avLst/>
          </a:prstGeom>
          <a:noFill/>
        </p:spPr>
        <p:txBody>
          <a:bodyPr wrap="square">
            <a:spAutoFit/>
          </a:bodyPr>
          <a:lstStyle/>
          <a:p>
            <a:pPr algn="l"/>
            <a:r>
              <a:rPr sz="1500" b="1">
                <a:solidFill>
                  <a:srgbClr val="2E6FE0"/>
                </a:solidFill>
                <a:latin typeface="Meiryo"/>
              </a:rPr>
              <a:t>index.html 236行目〜 makeEnemies関数</a:t>
            </a:r>
          </a:p>
        </p:txBody>
      </p:sp>
      <p:sp>
        <p:nvSpPr>
          <p:cNvPr id="5" name="Rounded Rectangle 4"/>
          <p:cNvSpPr/>
          <p:nvPr/>
        </p:nvSpPr>
        <p:spPr>
          <a:xfrm>
            <a:off x="548640" y="1463040"/>
            <a:ext cx="5943600" cy="3566160"/>
          </a:xfrm>
          <a:prstGeom prst="roundRect">
            <a:avLst>
              <a:gd name="adj" fmla="val 3000"/>
            </a:avLst>
          </a:prstGeom>
          <a:solidFill>
            <a:srgbClr val="1E1E1E"/>
          </a:solidFill>
          <a:ln>
            <a:solidFill>
              <a:srgbClr val="444444"/>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37160"/>
          <a:lstStyle/>
          <a:p>
            <a:pPr algn="ctr">
              <a:lnSpc>
                <a:spcPct val="115000"/>
              </a:lnSpc>
            </a:pPr>
            <a:r>
              <a:rPr sz="1300">
                <a:solidFill>
                  <a:srgbClr val="D4D4D4"/>
                </a:solidFill>
                <a:latin typeface="Consolas"/>
              </a:rPr>
              <a:t>function makeEnemies(lvl, groundTiles) {</a:t>
            </a:r>
          </a:p>
          <a:p>
            <a:pPr>
              <a:lnSpc>
                <a:spcPct val="115000"/>
              </a:lnSpc>
            </a:pPr>
            <a:r>
              <a:rPr sz="1300">
                <a:solidFill>
                  <a:srgbClr val="D4D4D4"/>
                </a:solidFill>
                <a:latin typeface="Consolas"/>
              </a:rPr>
              <a:t>  const enemies = [];</a:t>
            </a:r>
          </a:p>
          <a:p>
            <a:pPr>
              <a:lnSpc>
                <a:spcPct val="115000"/>
              </a:lnSpc>
            </a:pPr>
            <a:r>
              <a:rPr sz="1300">
                <a:solidFill>
                  <a:srgbClr val="D4D4D4"/>
                </a:solidFill>
                <a:latin typeface="Consolas"/>
              </a:rPr>
              <a:t>  const walkerPositions = [8, 18, 28, 38, ...];</a:t>
            </a:r>
          </a:p>
          <a:p>
            <a:pPr>
              <a:lnSpc>
                <a:spcPct val="115000"/>
              </a:lnSpc>
            </a:pPr>
            <a:r>
              <a:rPr sz="1300">
                <a:solidFill>
                  <a:srgbClr val="D4D4D4"/>
                </a:solidFill>
                <a:latin typeface="Consolas"/>
              </a:rPr>
              <a:t>  walkerPositions.forEach((ex, i) =&gt; {</a:t>
            </a:r>
          </a:p>
          <a:p>
            <a:pPr>
              <a:lnSpc>
                <a:spcPct val="115000"/>
              </a:lnSpc>
            </a:pPr>
            <a:r>
              <a:rPr sz="1300">
                <a:solidFill>
                  <a:srgbClr val="D4D4D4"/>
                </a:solidFill>
                <a:latin typeface="Consolas"/>
              </a:rPr>
              <a:t>    const sy = groundSpawnY(ex); // 地面の高さを調べる</a:t>
            </a:r>
          </a:p>
          <a:p>
            <a:pPr>
              <a:lnSpc>
                <a:spcPct val="115000"/>
              </a:lnSpc>
            </a:pPr>
            <a:r>
              <a:rPr sz="1300">
                <a:solidFill>
                  <a:srgbClr val="D4D4D4"/>
                </a:solidFill>
                <a:latin typeface="Consolas"/>
              </a:rPr>
              <a:t>    enemies.push({</a:t>
            </a:r>
          </a:p>
          <a:p>
            <a:pPr>
              <a:lnSpc>
                <a:spcPct val="115000"/>
              </a:lnSpc>
            </a:pPr>
            <a:r>
              <a:rPr sz="1300">
                <a:solidFill>
                  <a:srgbClr val="D4D4D4"/>
                </a:solidFill>
                <a:latin typeface="Consolas"/>
              </a:rPr>
              <a:t>      type: 'walker',</a:t>
            </a:r>
          </a:p>
          <a:p>
            <a:pPr>
              <a:lnSpc>
                <a:spcPct val="115000"/>
              </a:lnSpc>
            </a:pPr>
            <a:r>
              <a:rPr sz="1300">
                <a:solidFill>
                  <a:srgbClr val="D4D4D4"/>
                </a:solidFill>
                <a:latin typeface="Consolas"/>
              </a:rPr>
              <a:t>      x: ex * TILE, y: sy,</a:t>
            </a:r>
          </a:p>
          <a:p>
            <a:pPr>
              <a:lnSpc>
                <a:spcPct val="115000"/>
              </a:lnSpc>
            </a:pPr>
            <a:r>
              <a:rPr sz="1300">
                <a:solidFill>
                  <a:srgbClr val="D4D4D4"/>
                </a:solidFill>
                <a:latin typeface="Consolas"/>
              </a:rPr>
              <a:t>      vx: -(0.8 + lvl * 0.3 + i * 0.1), // 移動速度</a:t>
            </a:r>
          </a:p>
          <a:p>
            <a:pPr>
              <a:lnSpc>
                <a:spcPct val="115000"/>
              </a:lnSpc>
            </a:pPr>
            <a:r>
              <a:rPr sz="1300">
                <a:solidFill>
                  <a:srgbClr val="D4D4D4"/>
                </a:solidFill>
                <a:latin typeface="Consolas"/>
              </a:rPr>
              <a:t>      alive: true</a:t>
            </a:r>
          </a:p>
          <a:p>
            <a:pPr>
              <a:lnSpc>
                <a:spcPct val="115000"/>
              </a:lnSpc>
            </a:pPr>
            <a:r>
              <a:rPr sz="1300">
                <a:solidFill>
                  <a:srgbClr val="D4D4D4"/>
                </a:solidFill>
                <a:latin typeface="Consolas"/>
              </a:rPr>
              <a:t>    });</a:t>
            </a:r>
          </a:p>
          <a:p>
            <a:pPr>
              <a:lnSpc>
                <a:spcPct val="115000"/>
              </a:lnSpc>
            </a:pPr>
            <a:r>
              <a:rPr sz="1300">
                <a:solidFill>
                  <a:srgbClr val="D4D4D4"/>
                </a:solidFill>
                <a:latin typeface="Consolas"/>
              </a:rPr>
              <a:t>  });</a:t>
            </a:r>
          </a:p>
          <a:p>
            <a:pPr>
              <a:lnSpc>
                <a:spcPct val="115000"/>
              </a:lnSpc>
            </a:pPr>
            <a:r>
              <a:rPr sz="1300">
                <a:solidFill>
                  <a:srgbClr val="D4D4D4"/>
                </a:solidFill>
                <a:latin typeface="Consolas"/>
              </a:rPr>
              <a:t>  // koopa, flyer, thrower, stomper, boss も同様に追加</a:t>
            </a:r>
          </a:p>
          <a:p>
            <a:pPr>
              <a:lnSpc>
                <a:spcPct val="115000"/>
              </a:lnSpc>
            </a:pPr>
            <a:r>
              <a:rPr sz="1300">
                <a:solidFill>
                  <a:srgbClr val="D4D4D4"/>
                </a:solidFill>
                <a:latin typeface="Consolas"/>
              </a:rPr>
              <a:t>}</a:t>
            </a:r>
          </a:p>
        </p:txBody>
      </p:sp>
      <p:sp>
        <p:nvSpPr>
          <p:cNvPr id="6" name="TextBox 5"/>
          <p:cNvSpPr txBox="1"/>
          <p:nvPr/>
        </p:nvSpPr>
        <p:spPr>
          <a:xfrm>
            <a:off x="6675120" y="1463040"/>
            <a:ext cx="4937760" cy="4480560"/>
          </a:xfrm>
          <a:prstGeom prst="rect">
            <a:avLst/>
          </a:prstGeom>
          <a:noFill/>
        </p:spPr>
        <p:txBody>
          <a:bodyPr wrap="square">
            <a:spAutoFit/>
          </a:bodyPr>
          <a:lstStyle/>
          <a:p>
            <a:pPr algn="l">
              <a:lnSpc>
                <a:spcPct val="125000"/>
              </a:lnSpc>
            </a:pPr>
            <a:r>
              <a:rPr sz="1600" b="0">
                <a:solidFill>
                  <a:srgbClr val="222222"/>
                </a:solidFill>
                <a:latin typeface="Meiryo"/>
              </a:rPr>
              <a:t>敵は「オブジェクト（データのかたまり）」として配列 enemies に1体ずつ追加されています。</a:t>
            </a:r>
          </a:p>
          <a:p>
            <a:pPr algn="l">
              <a:lnSpc>
                <a:spcPct val="125000"/>
              </a:lnSpc>
            </a:pPr>
          </a:p>
          <a:p>
            <a:pPr algn="l">
              <a:lnSpc>
                <a:spcPct val="125000"/>
              </a:lnSpc>
            </a:pPr>
            <a:r>
              <a:rPr sz="1600" b="0">
                <a:solidFill>
                  <a:srgbClr val="222222"/>
                </a:solidFill>
                <a:latin typeface="Meiryo"/>
              </a:rPr>
              <a:t>・type：敵の種類（walker＝歩く敵、koopa＝甲羅になる敵、flyer＝飛ぶ敵、thrower＝物を投げる敵、stomper＝踏みつぶし敵、boss）</a:t>
            </a:r>
          </a:p>
          <a:p>
            <a:pPr algn="l">
              <a:lnSpc>
                <a:spcPct val="125000"/>
              </a:lnSpc>
            </a:pPr>
            <a:r>
              <a:rPr sz="1600" b="0">
                <a:solidFill>
                  <a:srgbClr val="222222"/>
                </a:solidFill>
                <a:latin typeface="Meiryo"/>
              </a:rPr>
              <a:t>・x, y：出現する座標</a:t>
            </a:r>
          </a:p>
          <a:p>
            <a:pPr algn="l">
              <a:lnSpc>
                <a:spcPct val="125000"/>
              </a:lnSpc>
            </a:pPr>
            <a:r>
              <a:rPr sz="1600" b="0">
                <a:solidFill>
                  <a:srgbClr val="222222"/>
                </a:solidFill>
                <a:latin typeface="Meiryo"/>
              </a:rPr>
              <a:t>・vx：横方向の移動速度（lvlが上がるほど速くなる！）</a:t>
            </a:r>
          </a:p>
          <a:p>
            <a:pPr algn="l">
              <a:lnSpc>
                <a:spcPct val="125000"/>
              </a:lnSpc>
            </a:pPr>
            <a:r>
              <a:rPr sz="1600" b="0">
                <a:solidFill>
                  <a:srgbClr val="222222"/>
                </a:solidFill>
                <a:latin typeface="Meiryo"/>
              </a:rPr>
              <a:t>・alive：生きているかどうかのフラグ</a:t>
            </a:r>
          </a:p>
          <a:p>
            <a:pPr algn="l">
              <a:lnSpc>
                <a:spcPct val="125000"/>
              </a:lnSpc>
            </a:pPr>
          </a:p>
          <a:p>
            <a:pPr algn="l">
              <a:lnSpc>
                <a:spcPct val="125000"/>
              </a:lnSpc>
            </a:pPr>
            <a:r>
              <a:rPr sz="1600" b="0">
                <a:solidFill>
                  <a:srgbClr val="222222"/>
                </a:solidFill>
                <a:latin typeface="Meiryo"/>
              </a:rPr>
              <a:t>groundSpawnYという関数で「実際の地形の上」に敵を立たせることで、階段や足場の中に埋まらないよう工夫しています。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3000" b="1">
                <a:solidFill>
                  <a:srgbClr val="FFFFFF"/>
                </a:solidFill>
                <a:latin typeface="Meiryo"/>
              </a:defRPr>
            </a:pPr>
            <a:r>
              <a:t>コード解説④ アイテム・パワーアップの仕組み</a:t>
            </a:r>
          </a:p>
        </p:txBody>
      </p:sp>
      <p:sp>
        <p:nvSpPr>
          <p:cNvPr id="3" name="TextBox 2"/>
          <p:cNvSpPr txBox="1"/>
          <p:nvPr/>
        </p:nvSpPr>
        <p:spPr>
          <a:xfrm>
            <a:off x="11002975" y="320040"/>
            <a:ext cx="914400" cy="457200"/>
          </a:xfrm>
          <a:prstGeom prst="rect">
            <a:avLst/>
          </a:prstGeom>
          <a:noFill/>
        </p:spPr>
        <p:txBody>
          <a:bodyPr wrap="square">
            <a:spAutoFit/>
          </a:bodyPr>
          <a:lstStyle/>
          <a:p>
            <a:pPr algn="r"/>
            <a:r>
              <a:rPr sz="1400" b="0">
                <a:solidFill>
                  <a:srgbClr val="FFFFFF"/>
                </a:solidFill>
                <a:latin typeface="Meiryo"/>
              </a:rPr>
              <a:t>8/14</a:t>
            </a:r>
          </a:p>
        </p:txBody>
      </p:sp>
      <p:sp>
        <p:nvSpPr>
          <p:cNvPr id="4" name="TextBox 3"/>
          <p:cNvSpPr txBox="1"/>
          <p:nvPr/>
        </p:nvSpPr>
        <p:spPr>
          <a:xfrm>
            <a:off x="548640" y="1078992"/>
            <a:ext cx="5760720" cy="365760"/>
          </a:xfrm>
          <a:prstGeom prst="rect">
            <a:avLst/>
          </a:prstGeom>
          <a:noFill/>
        </p:spPr>
        <p:txBody>
          <a:bodyPr wrap="square">
            <a:spAutoFit/>
          </a:bodyPr>
          <a:lstStyle/>
          <a:p>
            <a:pPr algn="l"/>
            <a:r>
              <a:rPr sz="1500" b="1">
                <a:solidFill>
                  <a:srgbClr val="2E6FE0"/>
                </a:solidFill>
                <a:latin typeface="Meiryo"/>
              </a:rPr>
              <a:t>index.html 452行目付近</a:t>
            </a:r>
          </a:p>
        </p:txBody>
      </p:sp>
      <p:sp>
        <p:nvSpPr>
          <p:cNvPr id="5" name="Rounded Rectangle 4"/>
          <p:cNvSpPr/>
          <p:nvPr/>
        </p:nvSpPr>
        <p:spPr>
          <a:xfrm>
            <a:off x="548640" y="1463040"/>
            <a:ext cx="5760720" cy="3108960"/>
          </a:xfrm>
          <a:prstGeom prst="roundRect">
            <a:avLst>
              <a:gd name="adj" fmla="val 3000"/>
            </a:avLst>
          </a:prstGeom>
          <a:solidFill>
            <a:srgbClr val="1E1E1E"/>
          </a:solidFill>
          <a:ln>
            <a:solidFill>
              <a:srgbClr val="444444"/>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37160"/>
          <a:lstStyle/>
          <a:p>
            <a:pPr algn="ctr">
              <a:lnSpc>
                <a:spcPct val="115000"/>
              </a:lnSpc>
            </a:pPr>
            <a:r>
              <a:rPr sz="1300">
                <a:solidFill>
                  <a:srgbClr val="D4D4D4"/>
                </a:solidFill>
                <a:latin typeface="Consolas"/>
              </a:rPr>
              <a:t>function collectPowerup(item) {</a:t>
            </a:r>
          </a:p>
          <a:p>
            <a:pPr>
              <a:lnSpc>
                <a:spcPct val="115000"/>
              </a:lnSpc>
            </a:pPr>
            <a:r>
              <a:rPr sz="1300">
                <a:solidFill>
                  <a:srgbClr val="D4D4D4"/>
                </a:solidFill>
                <a:latin typeface="Consolas"/>
              </a:rPr>
              <a:t>  item.collected = true;      // 取得済みにする</a:t>
            </a:r>
          </a:p>
          <a:p>
            <a:pPr>
              <a:lnSpc>
                <a:spcPct val="115000"/>
              </a:lnSpc>
            </a:pPr>
            <a:r>
              <a:rPr sz="1300">
                <a:solidFill>
                  <a:srgbClr val="D4D4D4"/>
                </a:solidFill>
                <a:latin typeface="Consolas"/>
              </a:rPr>
              <a:t>  score += 250;                // スコア加算</a:t>
            </a:r>
          </a:p>
          <a:p>
            <a:pPr>
              <a:lnSpc>
                <a:spcPct val="115000"/>
              </a:lnSpc>
            </a:pPr>
            <a:r>
              <a:rPr sz="1300">
                <a:solidFill>
                  <a:srgbClr val="D4D4D4"/>
                </a:solidFill>
                <a:latin typeface="Consolas"/>
              </a:rPr>
              <a:t>  if (item.type === 'speed') player.speedTimer = 600;</a:t>
            </a:r>
          </a:p>
          <a:p>
            <a:pPr>
              <a:lnSpc>
                <a:spcPct val="115000"/>
              </a:lnSpc>
            </a:pPr>
            <a:r>
              <a:rPr sz="1300">
                <a:solidFill>
                  <a:srgbClr val="D4D4D4"/>
                </a:solidFill>
                <a:latin typeface="Consolas"/>
              </a:rPr>
              <a:t>  if (item.type === 'giant')  { </a:t>
            </a:r>
          </a:p>
          <a:p>
            <a:pPr>
              <a:lnSpc>
                <a:spcPct val="115000"/>
              </a:lnSpc>
            </a:pPr>
            <a:r>
              <a:rPr sz="1300">
                <a:solidFill>
                  <a:srgbClr val="D4D4D4"/>
                </a:solidFill>
                <a:latin typeface="Consolas"/>
              </a:rPr>
              <a:t>     player.giantTimer = 480; setGiantMode(true); }</a:t>
            </a:r>
          </a:p>
          <a:p>
            <a:pPr>
              <a:lnSpc>
                <a:spcPct val="115000"/>
              </a:lnSpc>
            </a:pPr>
            <a:r>
              <a:rPr sz="1300">
                <a:solidFill>
                  <a:srgbClr val="D4D4D4"/>
                </a:solidFill>
                <a:latin typeface="Consolas"/>
              </a:rPr>
              <a:t>  if (item.type === 'fire')  player.fireTimer = 600;</a:t>
            </a:r>
          </a:p>
          <a:p>
            <a:pPr>
              <a:lnSpc>
                <a:spcPct val="115000"/>
              </a:lnSpc>
            </a:pPr>
            <a:r>
              <a:rPr sz="1300">
                <a:solidFill>
                  <a:srgbClr val="D4D4D4"/>
                </a:solidFill>
                <a:latin typeface="Consolas"/>
              </a:rPr>
              <a:t>  if (item.type === 'star')  player.starTimer = 420;</a:t>
            </a:r>
          </a:p>
          <a:p>
            <a:pPr>
              <a:lnSpc>
                <a:spcPct val="115000"/>
              </a:lnSpc>
            </a:pPr>
            <a:r>
              <a:rPr sz="1300">
                <a:solidFill>
                  <a:srgbClr val="D4D4D4"/>
                </a:solidFill>
                <a:latin typeface="Consolas"/>
              </a:rPr>
              <a:t>}</a:t>
            </a:r>
          </a:p>
        </p:txBody>
      </p:sp>
      <p:sp>
        <p:nvSpPr>
          <p:cNvPr id="6" name="TextBox 5"/>
          <p:cNvSpPr txBox="1"/>
          <p:nvPr/>
        </p:nvSpPr>
        <p:spPr>
          <a:xfrm>
            <a:off x="6492240" y="1463040"/>
            <a:ext cx="5120640" cy="4297680"/>
          </a:xfrm>
          <a:prstGeom prst="rect">
            <a:avLst/>
          </a:prstGeom>
          <a:noFill/>
        </p:spPr>
        <p:txBody>
          <a:bodyPr wrap="square">
            <a:spAutoFit/>
          </a:bodyPr>
          <a:lstStyle/>
          <a:p>
            <a:pPr algn="l">
              <a:lnSpc>
                <a:spcPct val="130000"/>
              </a:lnSpc>
            </a:pPr>
            <a:r>
              <a:rPr sz="1700" b="0">
                <a:solidFill>
                  <a:srgbClr val="222222"/>
                </a:solidFill>
                <a:latin typeface="Meiryo"/>
              </a:rPr>
              <a:t>プレイヤーがアイテムに触れると collectPowerup 関数が呼ばれます。</a:t>
            </a:r>
          </a:p>
          <a:p>
            <a:pPr algn="l">
              <a:lnSpc>
                <a:spcPct val="130000"/>
              </a:lnSpc>
            </a:pPr>
          </a:p>
          <a:p>
            <a:pPr algn="l">
              <a:lnSpc>
                <a:spcPct val="130000"/>
              </a:lnSpc>
            </a:pPr>
            <a:r>
              <a:rPr sz="1700" b="0">
                <a:solidFill>
                  <a:srgbClr val="222222"/>
                </a:solidFill>
                <a:latin typeface="Meiryo"/>
              </a:rPr>
              <a:t>・item.collected = true → 一度取ったアイテムは消える</a:t>
            </a:r>
          </a:p>
          <a:p>
            <a:pPr algn="l">
              <a:lnSpc>
                <a:spcPct val="130000"/>
              </a:lnSpc>
            </a:pPr>
            <a:r>
              <a:rPr sz="1700" b="0">
                <a:solidFill>
                  <a:srgbClr val="222222"/>
                </a:solidFill>
                <a:latin typeface="Meiryo"/>
              </a:rPr>
              <a:t>・item.type によって処理を分岐（if文）</a:t>
            </a:r>
          </a:p>
          <a:p>
            <a:pPr algn="l">
              <a:lnSpc>
                <a:spcPct val="130000"/>
              </a:lnSpc>
            </a:pPr>
            <a:r>
              <a:rPr sz="1700" b="0">
                <a:solidFill>
                  <a:srgbClr val="222222"/>
                </a:solidFill>
                <a:latin typeface="Meiryo"/>
              </a:rPr>
              <a:t>・〇〇Timer という数値に「効果が続くフレーム数」を入れる</a:t>
            </a:r>
          </a:p>
          <a:p>
            <a:pPr algn="l">
              <a:lnSpc>
                <a:spcPct val="130000"/>
              </a:lnSpc>
            </a:pPr>
            <a:r>
              <a:rPr sz="1700" b="0">
                <a:solidFill>
                  <a:srgbClr val="222222"/>
                </a:solidFill>
                <a:latin typeface="Meiryo"/>
              </a:rPr>
              <a:t>　（例：speedTimer = 600 → 600フレーム＝約10秒間スピードアップ）</a:t>
            </a:r>
          </a:p>
          <a:p>
            <a:pPr algn="l">
              <a:lnSpc>
                <a:spcPct val="130000"/>
              </a:lnSpc>
            </a:pPr>
          </a:p>
          <a:p>
            <a:pPr algn="l">
              <a:lnSpc>
                <a:spcPct val="130000"/>
              </a:lnSpc>
            </a:pPr>
            <a:r>
              <a:rPr sz="1700" b="0">
                <a:solidFill>
                  <a:srgbClr val="222222"/>
                </a:solidFill>
                <a:latin typeface="Meiryo"/>
              </a:rPr>
              <a:t>この Timer は毎フレーム1ずつ減らされ、0になると元の状態に戻る仕組みです。「時間制限つきの強化」がたった数行のコードで表現できるのがポイントです。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3000" b="1">
                <a:solidFill>
                  <a:srgbClr val="FFFFFF"/>
                </a:solidFill>
                <a:latin typeface="Meiryo"/>
              </a:defRPr>
            </a:pPr>
            <a:r>
              <a:t>コード解説⑤ ステージ（マップ）が作られる仕組み</a:t>
            </a:r>
          </a:p>
        </p:txBody>
      </p:sp>
      <p:sp>
        <p:nvSpPr>
          <p:cNvPr id="3" name="TextBox 2"/>
          <p:cNvSpPr txBox="1"/>
          <p:nvPr/>
        </p:nvSpPr>
        <p:spPr>
          <a:xfrm>
            <a:off x="11002975" y="320040"/>
            <a:ext cx="914400" cy="457200"/>
          </a:xfrm>
          <a:prstGeom prst="rect">
            <a:avLst/>
          </a:prstGeom>
          <a:noFill/>
        </p:spPr>
        <p:txBody>
          <a:bodyPr wrap="square">
            <a:spAutoFit/>
          </a:bodyPr>
          <a:lstStyle/>
          <a:p>
            <a:pPr algn="r"/>
            <a:r>
              <a:rPr sz="1400" b="0">
                <a:solidFill>
                  <a:srgbClr val="FFFFFF"/>
                </a:solidFill>
                <a:latin typeface="Meiryo"/>
              </a:rPr>
              <a:t>9/14</a:t>
            </a:r>
          </a:p>
        </p:txBody>
      </p:sp>
      <p:sp>
        <p:nvSpPr>
          <p:cNvPr id="4" name="TextBox 3"/>
          <p:cNvSpPr txBox="1"/>
          <p:nvPr/>
        </p:nvSpPr>
        <p:spPr>
          <a:xfrm>
            <a:off x="548640" y="1078992"/>
            <a:ext cx="5943600" cy="365760"/>
          </a:xfrm>
          <a:prstGeom prst="rect">
            <a:avLst/>
          </a:prstGeom>
          <a:noFill/>
        </p:spPr>
        <p:txBody>
          <a:bodyPr wrap="square">
            <a:spAutoFit/>
          </a:bodyPr>
          <a:lstStyle/>
          <a:p>
            <a:pPr algn="l"/>
            <a:r>
              <a:rPr sz="1500" b="1">
                <a:solidFill>
                  <a:srgbClr val="2E6FE0"/>
                </a:solidFill>
                <a:latin typeface="Meiryo"/>
              </a:rPr>
              <a:t>index.html 121行目〜 buildLevel関数</a:t>
            </a:r>
          </a:p>
        </p:txBody>
      </p:sp>
      <p:sp>
        <p:nvSpPr>
          <p:cNvPr id="5" name="Rounded Rectangle 4"/>
          <p:cNvSpPr/>
          <p:nvPr/>
        </p:nvSpPr>
        <p:spPr>
          <a:xfrm>
            <a:off x="548640" y="1463040"/>
            <a:ext cx="5943600" cy="3566160"/>
          </a:xfrm>
          <a:prstGeom prst="roundRect">
            <a:avLst>
              <a:gd name="adj" fmla="val 3000"/>
            </a:avLst>
          </a:prstGeom>
          <a:solidFill>
            <a:srgbClr val="1E1E1E"/>
          </a:solidFill>
          <a:ln>
            <a:solidFill>
              <a:srgbClr val="444444"/>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37160"/>
          <a:lstStyle/>
          <a:p>
            <a:pPr algn="ctr">
              <a:lnSpc>
                <a:spcPct val="115000"/>
              </a:lnSpc>
            </a:pPr>
            <a:r>
              <a:rPr sz="1300">
                <a:solidFill>
                  <a:srgbClr val="D4D4D4"/>
                </a:solidFill>
                <a:latin typeface="Consolas"/>
              </a:rPr>
              <a:t>function buildLevel(lvl) {</a:t>
            </a:r>
          </a:p>
          <a:p>
            <a:pPr>
              <a:lnSpc>
                <a:spcPct val="115000"/>
              </a:lnSpc>
            </a:pPr>
            <a:r>
              <a:rPr sz="1300">
                <a:solidFill>
                  <a:srgbClr val="D4D4D4"/>
                </a:solidFill>
                <a:latin typeface="Consolas"/>
              </a:rPr>
              <a:t>  const groundY = 13;</a:t>
            </a:r>
          </a:p>
          <a:p>
            <a:pPr>
              <a:lnSpc>
                <a:spcPct val="115000"/>
              </a:lnSpc>
            </a:pPr>
            <a:r>
              <a:rPr sz="1300">
                <a:solidFill>
                  <a:srgbClr val="D4D4D4"/>
                </a:solidFill>
                <a:latin typeface="Consolas"/>
              </a:rPr>
              <a:t>  const tiles = [];</a:t>
            </a:r>
          </a:p>
          <a:p>
            <a:pPr>
              <a:lnSpc>
                <a:spcPct val="115000"/>
              </a:lnSpc>
            </a:pPr>
            <a:r>
              <a:rPr sz="1300">
                <a:solidFill>
                  <a:srgbClr val="D4D4D4"/>
                </a:solidFill>
                <a:latin typeface="Consolas"/>
              </a:rPr>
              <a:t>  const mapW = mapWForLevel(lvl); // ステージが進むほど広い</a:t>
            </a:r>
          </a:p>
          <a:p>
            <a:pPr>
              <a:lnSpc>
                <a:spcPct val="115000"/>
              </a:lnSpc>
            </a:pPr>
          </a:p>
          <a:p>
            <a:pPr>
              <a:lnSpc>
                <a:spcPct val="115000"/>
              </a:lnSpc>
            </a:pPr>
            <a:r>
              <a:rPr sz="1300">
                <a:solidFill>
                  <a:srgbClr val="D4D4D4"/>
                </a:solidFill>
                <a:latin typeface="Consolas"/>
              </a:rPr>
              <a:t>  // 穴（pit）はステージが進むほど増える</a:t>
            </a:r>
          </a:p>
          <a:p>
            <a:pPr>
              <a:lnSpc>
                <a:spcPct val="115000"/>
              </a:lnSpc>
            </a:pPr>
            <a:r>
              <a:rPr sz="1300">
                <a:solidFill>
                  <a:srgbClr val="D4D4D4"/>
                </a:solidFill>
                <a:latin typeface="Consolas"/>
              </a:rPr>
              <a:t>  const holeCount = Math.min(1 + lvl, holeCandidates.length);</a:t>
            </a:r>
          </a:p>
          <a:p>
            <a:pPr>
              <a:lnSpc>
                <a:spcPct val="115000"/>
              </a:lnSpc>
            </a:pPr>
          </a:p>
          <a:p>
            <a:pPr>
              <a:lnSpc>
                <a:spcPct val="115000"/>
              </a:lnSpc>
            </a:pPr>
            <a:r>
              <a:rPr sz="1300">
                <a:solidFill>
                  <a:srgbClr val="D4D4D4"/>
                </a:solidFill>
                <a:latin typeface="Consolas"/>
              </a:rPr>
              <a:t>  for (let x = 0; x &lt; mapW; x++) {</a:t>
            </a:r>
          </a:p>
          <a:p>
            <a:pPr>
              <a:lnSpc>
                <a:spcPct val="115000"/>
              </a:lnSpc>
            </a:pPr>
            <a:r>
              <a:rPr sz="1300">
                <a:solidFill>
                  <a:srgbClr val="D4D4D4"/>
                </a:solidFill>
                <a:latin typeface="Consolas"/>
              </a:rPr>
              <a:t>    if (!inHole(x)) tiles.push({ type: 1, x, y: groundY });</a:t>
            </a:r>
          </a:p>
          <a:p>
            <a:pPr>
              <a:lnSpc>
                <a:spcPct val="115000"/>
              </a:lnSpc>
            </a:pPr>
            <a:r>
              <a:rPr sz="1300">
                <a:solidFill>
                  <a:srgbClr val="D4D4D4"/>
                </a:solidFill>
                <a:latin typeface="Consolas"/>
              </a:rPr>
              <a:t>  }</a:t>
            </a:r>
          </a:p>
          <a:p>
            <a:pPr>
              <a:lnSpc>
                <a:spcPct val="115000"/>
              </a:lnSpc>
            </a:pPr>
            <a:r>
              <a:rPr sz="1300">
                <a:solidFill>
                  <a:srgbClr val="D4D4D4"/>
                </a:solidFill>
                <a:latin typeface="Consolas"/>
              </a:rPr>
              <a:t>  // 足場・階段・コイン・スパイクも同じように追加</a:t>
            </a:r>
          </a:p>
          <a:p>
            <a:pPr>
              <a:lnSpc>
                <a:spcPct val="115000"/>
              </a:lnSpc>
            </a:pPr>
            <a:r>
              <a:rPr sz="1300">
                <a:solidFill>
                  <a:srgbClr val="D4D4D4"/>
                </a:solidFill>
                <a:latin typeface="Consolas"/>
              </a:rPr>
              <a:t>}</a:t>
            </a:r>
          </a:p>
        </p:txBody>
      </p:sp>
      <p:sp>
        <p:nvSpPr>
          <p:cNvPr id="6" name="TextBox 5"/>
          <p:cNvSpPr txBox="1"/>
          <p:nvPr/>
        </p:nvSpPr>
        <p:spPr>
          <a:xfrm>
            <a:off x="6675120" y="1463040"/>
            <a:ext cx="4937760" cy="4297680"/>
          </a:xfrm>
          <a:prstGeom prst="rect">
            <a:avLst/>
          </a:prstGeom>
          <a:noFill/>
        </p:spPr>
        <p:txBody>
          <a:bodyPr wrap="square">
            <a:spAutoFit/>
          </a:bodyPr>
          <a:lstStyle/>
          <a:p>
            <a:pPr algn="l">
              <a:lnSpc>
                <a:spcPct val="130000"/>
              </a:lnSpc>
            </a:pPr>
            <a:r>
              <a:rPr sz="1600" b="0">
                <a:solidFill>
                  <a:srgbClr val="222222"/>
                </a:solidFill>
                <a:latin typeface="Meiryo"/>
              </a:rPr>
              <a:t>ステージは「タイル（マス目）」の集まりとして作られています。</a:t>
            </a:r>
          </a:p>
          <a:p>
            <a:pPr algn="l">
              <a:lnSpc>
                <a:spcPct val="130000"/>
              </a:lnSpc>
            </a:pPr>
          </a:p>
          <a:p>
            <a:pPr algn="l">
              <a:lnSpc>
                <a:spcPct val="130000"/>
              </a:lnSpc>
            </a:pPr>
            <a:r>
              <a:rPr sz="1600" b="0">
                <a:solidFill>
                  <a:srgbClr val="222222"/>
                </a:solidFill>
                <a:latin typeface="Meiryo"/>
              </a:rPr>
              <a:t>・type: 1＝地面, 2＝ブロック, 3＝コイン, 4＝ゴール　のように、数字1つでマス目の意味を表現</a:t>
            </a:r>
          </a:p>
          <a:p>
            <a:pPr algn="l">
              <a:lnSpc>
                <a:spcPct val="130000"/>
              </a:lnSpc>
            </a:pPr>
            <a:r>
              <a:rPr sz="1600" b="0">
                <a:solidFill>
                  <a:srgbClr val="222222"/>
                </a:solidFill>
                <a:latin typeface="Meiryo"/>
              </a:rPr>
              <a:t>・for文で横方向に1マスずつ地面を並べていく</a:t>
            </a:r>
          </a:p>
          <a:p>
            <a:pPr algn="l">
              <a:lnSpc>
                <a:spcPct val="130000"/>
              </a:lnSpc>
            </a:pPr>
            <a:r>
              <a:rPr sz="1600" b="0">
                <a:solidFill>
                  <a:srgbClr val="222222"/>
                </a:solidFill>
                <a:latin typeface="Meiryo"/>
              </a:rPr>
              <a:t>・lvl（ステージ番号）を使った計算で、ステージが進むほどマップが広くなったり、穴が増えたりする</a:t>
            </a:r>
          </a:p>
          <a:p>
            <a:pPr algn="l">
              <a:lnSpc>
                <a:spcPct val="130000"/>
              </a:lnSpc>
            </a:pPr>
          </a:p>
          <a:p>
            <a:pPr algn="l">
              <a:lnSpc>
                <a:spcPct val="130000"/>
              </a:lnSpc>
            </a:pPr>
            <a:r>
              <a:rPr sz="1600" b="0">
                <a:solidFill>
                  <a:srgbClr val="222222"/>
                </a:solidFill>
                <a:latin typeface="Meiryo"/>
              </a:rPr>
              <a:t>つまり「1〜5ステージ分の地形」を手作業で描くのではなく、計算式でステージごとに自動生成しているのが工夫ポイントです。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3000" b="1">
                <a:solidFill>
                  <a:srgbClr val="FFFFFF"/>
                </a:solidFill>
                <a:latin typeface="Meiryo"/>
              </a:defRPr>
            </a:pPr>
            <a:r>
              <a:t>コード解説⑥ ファイア攻撃とゴール判定</a:t>
            </a:r>
          </a:p>
        </p:txBody>
      </p:sp>
      <p:sp>
        <p:nvSpPr>
          <p:cNvPr id="3" name="TextBox 2"/>
          <p:cNvSpPr txBox="1"/>
          <p:nvPr/>
        </p:nvSpPr>
        <p:spPr>
          <a:xfrm>
            <a:off x="11002975" y="320040"/>
            <a:ext cx="914400" cy="457200"/>
          </a:xfrm>
          <a:prstGeom prst="rect">
            <a:avLst/>
          </a:prstGeom>
          <a:noFill/>
        </p:spPr>
        <p:txBody>
          <a:bodyPr wrap="square">
            <a:spAutoFit/>
          </a:bodyPr>
          <a:lstStyle/>
          <a:p>
            <a:pPr algn="r"/>
            <a:r>
              <a:rPr sz="1400" b="0">
                <a:solidFill>
                  <a:srgbClr val="FFFFFF"/>
                </a:solidFill>
                <a:latin typeface="Meiryo"/>
              </a:rPr>
              <a:t>10/14</a:t>
            </a:r>
          </a:p>
        </p:txBody>
      </p:sp>
      <p:sp>
        <p:nvSpPr>
          <p:cNvPr id="4" name="TextBox 3"/>
          <p:cNvSpPr txBox="1"/>
          <p:nvPr/>
        </p:nvSpPr>
        <p:spPr>
          <a:xfrm>
            <a:off x="548640" y="1078992"/>
            <a:ext cx="5852160" cy="365760"/>
          </a:xfrm>
          <a:prstGeom prst="rect">
            <a:avLst/>
          </a:prstGeom>
          <a:noFill/>
        </p:spPr>
        <p:txBody>
          <a:bodyPr wrap="square">
            <a:spAutoFit/>
          </a:bodyPr>
          <a:lstStyle/>
          <a:p>
            <a:pPr algn="l"/>
            <a:r>
              <a:rPr sz="1500" b="1">
                <a:solidFill>
                  <a:srgbClr val="2E6FE0"/>
                </a:solidFill>
                <a:latin typeface="Meiryo"/>
              </a:rPr>
              <a:t>throwFireball（478行目）</a:t>
            </a:r>
          </a:p>
        </p:txBody>
      </p:sp>
      <p:sp>
        <p:nvSpPr>
          <p:cNvPr id="5" name="Rounded Rectangle 4"/>
          <p:cNvSpPr/>
          <p:nvPr/>
        </p:nvSpPr>
        <p:spPr>
          <a:xfrm>
            <a:off x="548640" y="1463040"/>
            <a:ext cx="5852160" cy="1920240"/>
          </a:xfrm>
          <a:prstGeom prst="roundRect">
            <a:avLst>
              <a:gd name="adj" fmla="val 3000"/>
            </a:avLst>
          </a:prstGeom>
          <a:solidFill>
            <a:srgbClr val="1E1E1E"/>
          </a:solidFill>
          <a:ln>
            <a:solidFill>
              <a:srgbClr val="444444"/>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37160"/>
          <a:lstStyle/>
          <a:p>
            <a:pPr algn="ctr">
              <a:lnSpc>
                <a:spcPct val="115000"/>
              </a:lnSpc>
            </a:pPr>
            <a:r>
              <a:rPr sz="1300">
                <a:solidFill>
                  <a:srgbClr val="D4D4D4"/>
                </a:solidFill>
                <a:latin typeface="Consolas"/>
              </a:rPr>
              <a:t>function throwFireball() {</a:t>
            </a:r>
          </a:p>
          <a:p>
            <a:pPr>
              <a:lnSpc>
                <a:spcPct val="115000"/>
              </a:lnSpc>
            </a:pPr>
            <a:r>
              <a:rPr sz="1300">
                <a:solidFill>
                  <a:srgbClr val="D4D4D4"/>
                </a:solidFill>
                <a:latin typeface="Consolas"/>
              </a:rPr>
              <a:t>  if (gameState !== 'playing' || player.fireTimer &lt;= 0) return;</a:t>
            </a:r>
          </a:p>
          <a:p>
            <a:pPr>
              <a:lnSpc>
                <a:spcPct val="115000"/>
              </a:lnSpc>
            </a:pPr>
            <a:r>
              <a:rPr sz="1300">
                <a:solidFill>
                  <a:srgbClr val="D4D4D4"/>
                </a:solidFill>
                <a:latin typeface="Consolas"/>
              </a:rPr>
              <a:t>  fireballs.push({ x: ..., y: ...,</a:t>
            </a:r>
          </a:p>
          <a:p>
            <a:pPr>
              <a:lnSpc>
                <a:spcPct val="115000"/>
              </a:lnSpc>
            </a:pPr>
            <a:r>
              <a:rPr sz="1300">
                <a:solidFill>
                  <a:srgbClr val="D4D4D4"/>
                </a:solidFill>
                <a:latin typeface="Consolas"/>
              </a:rPr>
              <a:t>    vx: 7 * player.facing, vy: -2, alive: true });</a:t>
            </a:r>
          </a:p>
          <a:p>
            <a:pPr>
              <a:lnSpc>
                <a:spcPct val="115000"/>
              </a:lnSpc>
            </a:pPr>
            <a:r>
              <a:rPr sz="1300">
                <a:solidFill>
                  <a:srgbClr val="D4D4D4"/>
                </a:solidFill>
                <a:latin typeface="Consolas"/>
              </a:rPr>
              <a:t>}</a:t>
            </a:r>
          </a:p>
        </p:txBody>
      </p:sp>
      <p:sp>
        <p:nvSpPr>
          <p:cNvPr id="6" name="TextBox 5"/>
          <p:cNvSpPr txBox="1"/>
          <p:nvPr/>
        </p:nvSpPr>
        <p:spPr>
          <a:xfrm>
            <a:off x="548640" y="3364991"/>
            <a:ext cx="5852160" cy="365760"/>
          </a:xfrm>
          <a:prstGeom prst="rect">
            <a:avLst/>
          </a:prstGeom>
          <a:noFill/>
        </p:spPr>
        <p:txBody>
          <a:bodyPr wrap="square">
            <a:spAutoFit/>
          </a:bodyPr>
          <a:lstStyle/>
          <a:p>
            <a:pPr algn="l"/>
            <a:r>
              <a:rPr sz="1500" b="1">
                <a:solidFill>
                  <a:srgbClr val="2E6FE0"/>
                </a:solidFill>
                <a:latin typeface="Meiryo"/>
              </a:rPr>
              <a:t>bossBlockingGoal（497行目）</a:t>
            </a:r>
          </a:p>
        </p:txBody>
      </p:sp>
      <p:sp>
        <p:nvSpPr>
          <p:cNvPr id="7" name="Rounded Rectangle 6"/>
          <p:cNvSpPr/>
          <p:nvPr/>
        </p:nvSpPr>
        <p:spPr>
          <a:xfrm>
            <a:off x="548640" y="3749039"/>
            <a:ext cx="5852160" cy="1737360"/>
          </a:xfrm>
          <a:prstGeom prst="roundRect">
            <a:avLst>
              <a:gd name="adj" fmla="val 3000"/>
            </a:avLst>
          </a:prstGeom>
          <a:solidFill>
            <a:srgbClr val="1E1E1E"/>
          </a:solidFill>
          <a:ln>
            <a:solidFill>
              <a:srgbClr val="444444"/>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37160"/>
          <a:lstStyle/>
          <a:p>
            <a:pPr algn="ctr">
              <a:lnSpc>
                <a:spcPct val="115000"/>
              </a:lnSpc>
            </a:pPr>
            <a:r>
              <a:rPr sz="1300">
                <a:solidFill>
                  <a:srgbClr val="D4D4D4"/>
                </a:solidFill>
                <a:latin typeface="Consolas"/>
              </a:rPr>
              <a:t>function bossBlockingGoal() {</a:t>
            </a:r>
          </a:p>
          <a:p>
            <a:pPr>
              <a:lnSpc>
                <a:spcPct val="115000"/>
              </a:lnSpc>
            </a:pPr>
            <a:r>
              <a:rPr sz="1300">
                <a:solidFill>
                  <a:srgbClr val="D4D4D4"/>
                </a:solidFill>
                <a:latin typeface="Consolas"/>
              </a:rPr>
              <a:t>  const boss = enemies.find(e =&gt; e.type === 'boss');</a:t>
            </a:r>
          </a:p>
          <a:p>
            <a:pPr>
              <a:lnSpc>
                <a:spcPct val="115000"/>
              </a:lnSpc>
            </a:pPr>
            <a:r>
              <a:rPr sz="1300">
                <a:solidFill>
                  <a:srgbClr val="D4D4D4"/>
                </a:solidFill>
                <a:latin typeface="Consolas"/>
              </a:rPr>
              <a:t>  return !!boss &amp;&amp; boss.alive &amp;&amp; !boss.stomped;</a:t>
            </a:r>
          </a:p>
          <a:p>
            <a:pPr>
              <a:lnSpc>
                <a:spcPct val="115000"/>
              </a:lnSpc>
            </a:pPr>
            <a:r>
              <a:rPr sz="1300">
                <a:solidFill>
                  <a:srgbClr val="D4D4D4"/>
                </a:solidFill>
                <a:latin typeface="Consolas"/>
              </a:rPr>
              <a:t>}</a:t>
            </a:r>
          </a:p>
        </p:txBody>
      </p:sp>
      <p:sp>
        <p:nvSpPr>
          <p:cNvPr id="8" name="TextBox 7"/>
          <p:cNvSpPr txBox="1"/>
          <p:nvPr/>
        </p:nvSpPr>
        <p:spPr>
          <a:xfrm>
            <a:off x="6675120" y="1463040"/>
            <a:ext cx="4937760" cy="4297680"/>
          </a:xfrm>
          <a:prstGeom prst="rect">
            <a:avLst/>
          </a:prstGeom>
          <a:noFill/>
        </p:spPr>
        <p:txBody>
          <a:bodyPr wrap="square">
            <a:spAutoFit/>
          </a:bodyPr>
          <a:lstStyle/>
          <a:p>
            <a:pPr algn="l">
              <a:lnSpc>
                <a:spcPct val="130000"/>
              </a:lnSpc>
            </a:pPr>
            <a:r>
              <a:rPr sz="1700" b="0">
                <a:solidFill>
                  <a:srgbClr val="222222"/>
                </a:solidFill>
                <a:latin typeface="Meiryo"/>
              </a:rPr>
              <a:t>Fキーを押すと throwFireball が呼ばれ、fireballs という配列に新しい火の玉データが追加されます。</a:t>
            </a:r>
          </a:p>
          <a:p>
            <a:pPr algn="l">
              <a:lnSpc>
                <a:spcPct val="130000"/>
              </a:lnSpc>
            </a:pPr>
            <a:r>
              <a:rPr sz="1700" b="0">
                <a:solidFill>
                  <a:srgbClr val="222222"/>
                </a:solidFill>
                <a:latin typeface="Meiryo"/>
              </a:rPr>
              <a:t>「fireTimer &lt;= 0 なら return」で、ファイアパワーを持っていない時は何もしない、という条件分岐になっています。</a:t>
            </a:r>
          </a:p>
          <a:p>
            <a:pPr algn="l">
              <a:lnSpc>
                <a:spcPct val="130000"/>
              </a:lnSpc>
            </a:pPr>
          </a:p>
          <a:p>
            <a:pPr algn="l">
              <a:lnSpc>
                <a:spcPct val="130000"/>
              </a:lnSpc>
            </a:pPr>
            <a:r>
              <a:rPr sz="1700" b="0">
                <a:solidFill>
                  <a:srgbClr val="222222"/>
                </a:solidFill>
                <a:latin typeface="Meiryo"/>
              </a:rPr>
              <a:t>bossBlockingGoal は「ボスがまだ生きていればtrue（ゴールできない）」を返す関数です。find で敵の配列からボスを探し、alive（生存）かつ stomped（倒された）でなければ「まだブロックしている」と判定します。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3000" b="1">
                <a:solidFill>
                  <a:srgbClr val="FFFFFF"/>
                </a:solidFill>
                <a:latin typeface="Meiryo"/>
              </a:defRPr>
            </a:pPr>
            <a:r>
              <a:t>制作に使ったAIツール</a:t>
            </a:r>
          </a:p>
        </p:txBody>
      </p:sp>
      <p:sp>
        <p:nvSpPr>
          <p:cNvPr id="3" name="TextBox 2"/>
          <p:cNvSpPr txBox="1"/>
          <p:nvPr/>
        </p:nvSpPr>
        <p:spPr>
          <a:xfrm>
            <a:off x="11002975" y="320040"/>
            <a:ext cx="914400" cy="457200"/>
          </a:xfrm>
          <a:prstGeom prst="rect">
            <a:avLst/>
          </a:prstGeom>
          <a:noFill/>
        </p:spPr>
        <p:txBody>
          <a:bodyPr wrap="square">
            <a:spAutoFit/>
          </a:bodyPr>
          <a:lstStyle/>
          <a:p>
            <a:pPr algn="r"/>
            <a:r>
              <a:rPr sz="1400" b="0">
                <a:solidFill>
                  <a:srgbClr val="FFFFFF"/>
                </a:solidFill>
                <a:latin typeface="Meiryo"/>
              </a:rPr>
              <a:t>11/14</a:t>
            </a:r>
          </a:p>
        </p:txBody>
      </p:sp>
      <p:sp>
        <p:nvSpPr>
          <p:cNvPr id="4" name="TextBox 3"/>
          <p:cNvSpPr txBox="1"/>
          <p:nvPr/>
        </p:nvSpPr>
        <p:spPr>
          <a:xfrm>
            <a:off x="548640" y="1463040"/>
            <a:ext cx="5669280" cy="4754880"/>
          </a:xfrm>
          <a:prstGeom prst="rect">
            <a:avLst/>
          </a:prstGeom>
          <a:noFill/>
        </p:spPr>
        <p:txBody>
          <a:bodyPr wrap="square">
            <a:spAutoFit/>
          </a:bodyPr>
          <a:lstStyle/>
          <a:p>
            <a:pPr>
              <a:lnSpc>
                <a:spcPct val="130000"/>
              </a:lnSpc>
              <a:spcAft>
                <a:spcPts val="800"/>
              </a:spcAft>
            </a:pPr>
            <a:r>
              <a:rPr sz="1900">
                <a:solidFill>
                  <a:srgbClr val="222222"/>
                </a:solidFill>
                <a:latin typeface="Meiryo"/>
              </a:rPr>
              <a:t>・GitHub Copilot（コーディングAI）を使用</a:t>
            </a:r>
          </a:p>
          <a:p>
            <a:pPr>
              <a:lnSpc>
                <a:spcPct val="130000"/>
              </a:lnSpc>
              <a:spcAft>
                <a:spcPts val="800"/>
              </a:spcAft>
            </a:pPr>
            <a:r>
              <a:rPr sz="1900">
                <a:solidFill>
                  <a:srgbClr val="222222"/>
                </a:solidFill>
                <a:latin typeface="Meiryo"/>
              </a:rPr>
              <a:t>・コードを書きながら「次に必要な処理」を提案してくれる</a:t>
            </a:r>
          </a:p>
          <a:p>
            <a:pPr>
              <a:lnSpc>
                <a:spcPct val="130000"/>
              </a:lnSpc>
              <a:spcAft>
                <a:spcPts val="800"/>
              </a:spcAft>
            </a:pPr>
            <a:r>
              <a:rPr sz="1900">
                <a:solidFill>
                  <a:srgbClr val="222222"/>
                </a:solidFill>
                <a:latin typeface="Meiryo"/>
              </a:rPr>
              <a:t>・「敵が階段に埋まらないように直したい」のような自然な文章で指示すると、関数の修正案を作ってくれる</a:t>
            </a:r>
          </a:p>
          <a:p>
            <a:pPr>
              <a:lnSpc>
                <a:spcPct val="130000"/>
              </a:lnSpc>
              <a:spcAft>
                <a:spcPts val="800"/>
              </a:spcAft>
            </a:pPr>
            <a:r>
              <a:rPr sz="1900">
                <a:solidFill>
                  <a:srgbClr val="222222"/>
                </a:solidFill>
                <a:latin typeface="Meiryo"/>
              </a:rPr>
              <a:t>・自分ひとりでは思いつかない実装方法やバグの直し方を提案してくれるので、初心者でも大きなプログラムを組み立てやすい</a:t>
            </a:r>
          </a:p>
        </p:txBody>
      </p:sp>
      <p:sp>
        <p:nvSpPr>
          <p:cNvPr id="5" name="Rounded Rectangle 4"/>
          <p:cNvSpPr/>
          <p:nvPr/>
        </p:nvSpPr>
        <p:spPr>
          <a:xfrm>
            <a:off x="6492240" y="1554480"/>
            <a:ext cx="5120640" cy="4206240"/>
          </a:xfrm>
          <a:prstGeom prst="roundRect">
            <a:avLst/>
          </a:prstGeom>
          <a:solidFill>
            <a:srgbClr val="EAF2FF"/>
          </a:solidFill>
          <a:ln>
            <a:solidFill>
              <a:srgbClr val="2E6FE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b="1" sz="2000">
                <a:solidFill>
                  <a:srgbClr val="1B2A4A"/>
                </a:solidFill>
              </a:defRPr>
            </a:pPr>
            <a:r>
              <a:t>GitHub Copilotとは？</a:t>
            </a:r>
          </a:p>
          <a:p>
            <a:pPr>
              <a:spcBef>
                <a:spcPts val="1000"/>
              </a:spcBef>
              <a:defRPr sz="1800">
                <a:solidFill>
                  <a:srgbClr val="222222"/>
                </a:solidFill>
              </a:defRPr>
            </a:pPr>
            <a:r>
              <a:t>・GitHubが提供するAIプログラミング支援ツール</a:t>
            </a:r>
          </a:p>
          <a:p>
            <a:pPr>
              <a:spcBef>
                <a:spcPts val="1000"/>
              </a:spcBef>
              <a:defRPr sz="1800">
                <a:solidFill>
                  <a:srgbClr val="222222"/>
                </a:solidFill>
              </a:defRPr>
            </a:pPr>
            <a:r>
              <a:t>・チャットで会話しながらコードを修正できる</a:t>
            </a:r>
          </a:p>
          <a:p>
            <a:pPr>
              <a:spcBef>
                <a:spcPts val="1000"/>
              </a:spcBef>
              <a:defRPr sz="1800">
                <a:solidFill>
                  <a:srgbClr val="222222"/>
                </a:solidFill>
              </a:defRPr>
            </a:pPr>
            <a:r>
              <a:t>・エディタ上でコードの続きを自動で予測・提案</a:t>
            </a:r>
          </a:p>
          <a:p>
            <a:pPr>
              <a:spcBef>
                <a:spcPts val="1000"/>
              </a:spcBef>
              <a:defRPr sz="1800">
                <a:solidFill>
                  <a:srgbClr val="222222"/>
                </a:solidFill>
              </a:defRPr>
            </a:pPr>
            <a:r>
              <a:t>・「初心者の学習用コード」も説明つきで書いてくれる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3000" b="1">
                <a:solidFill>
                  <a:srgbClr val="FFFFFF"/>
                </a:solidFill>
                <a:latin typeface="Meiryo"/>
              </a:defRPr>
            </a:pPr>
            <a:r>
              <a:t>おすすめのAIツール（プログラミング以外にも）</a:t>
            </a:r>
          </a:p>
        </p:txBody>
      </p:sp>
      <p:sp>
        <p:nvSpPr>
          <p:cNvPr id="3" name="TextBox 2"/>
          <p:cNvSpPr txBox="1"/>
          <p:nvPr/>
        </p:nvSpPr>
        <p:spPr>
          <a:xfrm>
            <a:off x="11002975" y="320040"/>
            <a:ext cx="914400" cy="457200"/>
          </a:xfrm>
          <a:prstGeom prst="rect">
            <a:avLst/>
          </a:prstGeom>
          <a:noFill/>
        </p:spPr>
        <p:txBody>
          <a:bodyPr wrap="square">
            <a:spAutoFit/>
          </a:bodyPr>
          <a:lstStyle/>
          <a:p>
            <a:pPr algn="r"/>
            <a:r>
              <a:rPr sz="1400" b="0">
                <a:solidFill>
                  <a:srgbClr val="FFFFFF"/>
                </a:solidFill>
                <a:latin typeface="Meiryo"/>
              </a:rPr>
              <a:t>12/14</a:t>
            </a:r>
          </a:p>
        </p:txBody>
      </p:sp>
      <p:sp>
        <p:nvSpPr>
          <p:cNvPr id="4" name="TextBox 3"/>
          <p:cNvSpPr txBox="1"/>
          <p:nvPr/>
        </p:nvSpPr>
        <p:spPr>
          <a:xfrm>
            <a:off x="548640" y="1463040"/>
            <a:ext cx="10789920" cy="4754880"/>
          </a:xfrm>
          <a:prstGeom prst="rect">
            <a:avLst/>
          </a:prstGeom>
          <a:noFill/>
        </p:spPr>
        <p:txBody>
          <a:bodyPr wrap="square">
            <a:spAutoFit/>
          </a:bodyPr>
          <a:lstStyle/>
          <a:p>
            <a:pPr>
              <a:lnSpc>
                <a:spcPct val="140000"/>
              </a:lnSpc>
              <a:spcAft>
                <a:spcPts val="800"/>
              </a:spcAft>
            </a:pPr>
            <a:r>
              <a:rPr sz="2100">
                <a:solidFill>
                  <a:srgbClr val="222222"/>
                </a:solidFill>
                <a:latin typeface="Meiryo"/>
              </a:rPr>
              <a:t>・ChatGPT（OpenAI）：文章で質問すると、仕組みの説明やアイデア出しを手伝ってくれる</a:t>
            </a:r>
          </a:p>
          <a:p>
            <a:pPr>
              <a:lnSpc>
                <a:spcPct val="140000"/>
              </a:lnSpc>
              <a:spcAft>
                <a:spcPts val="800"/>
              </a:spcAft>
            </a:pPr>
            <a:r>
              <a:rPr sz="2100">
                <a:solidFill>
                  <a:srgbClr val="222222"/>
                </a:solidFill>
                <a:latin typeface="Meiryo"/>
              </a:rPr>
              <a:t>・Claude（Anthropic）：長い文章やコードの読解・要約が得意なAI</a:t>
            </a:r>
          </a:p>
          <a:p>
            <a:pPr>
              <a:lnSpc>
                <a:spcPct val="140000"/>
              </a:lnSpc>
              <a:spcAft>
                <a:spcPts val="800"/>
              </a:spcAft>
            </a:pPr>
            <a:r>
              <a:rPr sz="2100">
                <a:solidFill>
                  <a:srgbClr val="222222"/>
                </a:solidFill>
                <a:latin typeface="Meiryo"/>
              </a:rPr>
              <a:t>・Gemini（Google）：検索や画像・調べ学習と組み合わせやすいAI</a:t>
            </a:r>
          </a:p>
          <a:p>
            <a:pPr>
              <a:lnSpc>
                <a:spcPct val="140000"/>
              </a:lnSpc>
              <a:spcAft>
                <a:spcPts val="800"/>
              </a:spcAft>
            </a:pPr>
            <a:r>
              <a:rPr sz="2100">
                <a:solidFill>
                  <a:srgbClr val="222222"/>
                </a:solidFill>
                <a:latin typeface="Meiryo"/>
              </a:rPr>
              <a:t>・GitHub Copilot（今回使用）：コードエディタに組み込まれ、プログラミングに特化</a:t>
            </a:r>
          </a:p>
          <a:p>
            <a:pPr>
              <a:lnSpc>
                <a:spcPct val="140000"/>
              </a:lnSpc>
              <a:spcAft>
                <a:spcPts val="800"/>
              </a:spcAft>
            </a:pPr>
            <a:r>
              <a:rPr sz="2100">
                <a:solidFill>
                  <a:srgbClr val="222222"/>
                </a:solidFill>
                <a:latin typeface="Meiryo"/>
              </a:rPr>
              <a:t>・AIツールごとに得意分野が違うので、目的に合わせて使い分けるのがおすすめ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lIns="365760"/>
          <a:lstStyle/>
          <a:p>
            <a:pPr algn="ctr">
              <a:defRPr sz="3000" b="1">
                <a:solidFill>
                  <a:srgbClr val="FFFFFF"/>
                </a:solidFill>
                <a:latin typeface="Meiryo"/>
              </a:defRPr>
            </a:pPr>
            <a:r>
              <a:t>まとめ</a:t>
            </a:r>
          </a:p>
        </p:txBody>
      </p:sp>
      <p:sp>
        <p:nvSpPr>
          <p:cNvPr id="3" name="TextBox 2"/>
          <p:cNvSpPr txBox="1"/>
          <p:nvPr/>
        </p:nvSpPr>
        <p:spPr>
          <a:xfrm>
            <a:off x="11002975" y="320040"/>
            <a:ext cx="914400" cy="457200"/>
          </a:xfrm>
          <a:prstGeom prst="rect">
            <a:avLst/>
          </a:prstGeom>
          <a:noFill/>
        </p:spPr>
        <p:txBody>
          <a:bodyPr wrap="square">
            <a:spAutoFit/>
          </a:bodyPr>
          <a:lstStyle/>
          <a:p>
            <a:pPr algn="r"/>
            <a:r>
              <a:rPr sz="1400" b="0">
                <a:solidFill>
                  <a:srgbClr val="FFFFFF"/>
                </a:solidFill>
                <a:latin typeface="Meiryo"/>
              </a:rPr>
              <a:t>13/14</a:t>
            </a:r>
          </a:p>
        </p:txBody>
      </p:sp>
      <p:sp>
        <p:nvSpPr>
          <p:cNvPr id="4" name="TextBox 3"/>
          <p:cNvSpPr txBox="1"/>
          <p:nvPr/>
        </p:nvSpPr>
        <p:spPr>
          <a:xfrm>
            <a:off x="548640" y="1554480"/>
            <a:ext cx="10789920" cy="4572000"/>
          </a:xfrm>
          <a:prstGeom prst="rect">
            <a:avLst/>
          </a:prstGeom>
          <a:noFill/>
        </p:spPr>
        <p:txBody>
          <a:bodyPr wrap="square">
            <a:spAutoFit/>
          </a:bodyPr>
          <a:lstStyle/>
          <a:p>
            <a:pPr>
              <a:lnSpc>
                <a:spcPct val="135000"/>
              </a:lnSpc>
              <a:spcAft>
                <a:spcPts val="800"/>
              </a:spcAft>
            </a:pPr>
            <a:r>
              <a:rPr sz="2100">
                <a:solidFill>
                  <a:srgbClr val="222222"/>
                </a:solidFill>
                <a:latin typeface="Meiryo"/>
              </a:rPr>
              <a:t>・2Dゲームは「X・Yの2方向」だけで表現されるシンプルな仕組み</a:t>
            </a:r>
          </a:p>
          <a:p>
            <a:pPr>
              <a:lnSpc>
                <a:spcPct val="135000"/>
              </a:lnSpc>
              <a:spcAft>
                <a:spcPts val="800"/>
              </a:spcAft>
            </a:pPr>
            <a:r>
              <a:rPr sz="2100">
                <a:solidFill>
                  <a:srgbClr val="222222"/>
                </a:solidFill>
                <a:latin typeface="Meiryo"/>
              </a:rPr>
              <a:t>・HTML・CSS・JavaScript・Canvasの組み合わせでブラウザ上に動くゲームが作れる</a:t>
            </a:r>
          </a:p>
          <a:p>
            <a:pPr>
              <a:lnSpc>
                <a:spcPct val="135000"/>
              </a:lnSpc>
              <a:spcAft>
                <a:spcPts val="800"/>
              </a:spcAft>
            </a:pPr>
            <a:r>
              <a:rPr sz="2100">
                <a:solidFill>
                  <a:srgbClr val="222222"/>
                </a:solidFill>
                <a:latin typeface="Meiryo"/>
              </a:rPr>
              <a:t>・『ゲームループ』『物理・当たり判定』『敵の生成』『アイテム』『ステージ生成』など、小さな関数の積み重ねで1つのゲームができている</a:t>
            </a:r>
          </a:p>
          <a:p>
            <a:pPr>
              <a:lnSpc>
                <a:spcPct val="135000"/>
              </a:lnSpc>
              <a:spcAft>
                <a:spcPts val="800"/>
              </a:spcAft>
            </a:pPr>
            <a:r>
              <a:rPr sz="2100">
                <a:solidFill>
                  <a:srgbClr val="222222"/>
                </a:solidFill>
                <a:latin typeface="Meiryo"/>
              </a:rPr>
              <a:t>・GitHub CopilotのようなAIを活用すると、初心者でも本格的なプログラムに挑戦しやすい</a:t>
            </a:r>
          </a:p>
          <a:p>
            <a:pPr>
              <a:lnSpc>
                <a:spcPct val="135000"/>
              </a:lnSpc>
              <a:spcAft>
                <a:spcPts val="800"/>
              </a:spcAft>
            </a:pPr>
            <a:r>
              <a:rPr sz="2100">
                <a:solidFill>
                  <a:srgbClr val="222222"/>
                </a:solidFill>
                <a:latin typeface="Meiryo"/>
              </a:rPr>
              <a:t>・まずは小さな仕組みから読み解いていくことが、プログラミング理解の第一歩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731520" y="2743200"/>
            <a:ext cx="10698480" cy="1097280"/>
          </a:xfrm>
          <a:prstGeom prst="rect">
            <a:avLst/>
          </a:prstGeom>
          <a:noFill/>
        </p:spPr>
        <p:txBody>
          <a:bodyPr wrap="square">
            <a:spAutoFit/>
          </a:bodyPr>
          <a:lstStyle/>
          <a:p>
            <a:pPr algn="ctr"/>
            <a:r>
              <a:rPr sz="4000" b="1">
                <a:solidFill>
                  <a:srgbClr val="FFFFFF"/>
                </a:solidFill>
                <a:latin typeface="Meiryo"/>
              </a:rPr>
              <a:t>ご清聴ありがとうございました</a:t>
            </a:r>
          </a:p>
        </p:txBody>
      </p:sp>
      <p:sp>
        <p:nvSpPr>
          <p:cNvPr id="3" name="TextBox 2"/>
          <p:cNvSpPr txBox="1"/>
          <p:nvPr/>
        </p:nvSpPr>
        <p:spPr>
          <a:xfrm>
            <a:off x="731520" y="3931920"/>
            <a:ext cx="10698480" cy="731520"/>
          </a:xfrm>
          <a:prstGeom prst="rect">
            <a:avLst/>
          </a:prstGeom>
          <a:noFill/>
        </p:spPr>
        <p:txBody>
          <a:bodyPr wrap="square">
            <a:spAutoFit/>
          </a:bodyPr>
          <a:lstStyle/>
          <a:p>
            <a:pPr algn="ctr"/>
            <a:r>
              <a:rPr sz="2000" b="0">
                <a:solidFill>
                  <a:srgbClr val="FFA500"/>
                </a:solidFill>
                <a:latin typeface="Meiryo"/>
              </a:rPr>
              <a:t>質問があればお気軽にどうぞ！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